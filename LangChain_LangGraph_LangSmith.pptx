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8" r:id="rId3"/>
    <p:sldId id="279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71" r:id="rId12"/>
    <p:sldId id="272" r:id="rId13"/>
    <p:sldId id="276" r:id="rId14"/>
    <p:sldId id="277" r:id="rId15"/>
    <p:sldId id="265" r:id="rId16"/>
    <p:sldId id="267" r:id="rId17"/>
    <p:sldId id="268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F2E855EF-EF25-80BC-4178-44CABAB1E9E2}">
          <p14:sldIdLst>
            <p14:sldId id="256"/>
            <p14:sldId id="278"/>
            <p14:sldId id="279"/>
          </p14:sldIdLst>
        </p14:section>
        <p14:section name="The AIYatra Blog" id="{7DE4F940-801A-90F2-E343-AC99AF9E12AB}">
          <p14:sldIdLst>
            <p14:sldId id="257"/>
            <p14:sldId id="258"/>
          </p14:sldIdLst>
        </p14:section>
        <p14:section name="01 · AIYatra Meetups" id="{5C860D2D-ADB2-7E26-2CDE-9CA1DB39C078}">
          <p14:sldIdLst>
            <p14:sldId id="259"/>
            <p14:sldId id="260"/>
            <p14:sldId id="262"/>
          </p14:sldIdLst>
        </p14:section>
        <p14:section name="02 · Student Ambassador Program" id="{B460B2AD-F88C-A8F0-D35D-84702DE6C578}">
          <p14:sldIdLst>
            <p14:sldId id="263"/>
            <p14:sldId id="264"/>
            <p14:sldId id="271"/>
          </p14:sldIdLst>
        </p14:section>
        <p14:section name="Community &amp; Contact" id="{740A2995-E8FF-C506-65D4-BC3EA13861EC}">
          <p14:sldIdLst>
            <p14:sldId id="272"/>
            <p14:sldId id="276"/>
            <p14:sldId id="277"/>
            <p14:sldId id="265"/>
          </p14:sldIdLst>
        </p14:section>
        <p14:section name="03 · AIYatra Research Labs" id="{DD448BD2-C175-DAC7-1697-87F5C8EB52B7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67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AIYatra is an open-source AI community from Hyderabad. The promise is on the slide: learn AI, and build it with your people. Three ways in: Saturday meetups, the Student Ambassador Program, and AIYatra Research Labs. Everything is free, and everything is at aiyatra.io.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oinuddin-Documents-AIYatra-aiyatra-io-website-AIYatra-IO/2308713a-0ea2-48bd-bdbe-fd8ee0307722/scratchpad/media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50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355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AIYatra  ·  aiyatra.io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49808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3400" b="1" dirty="0">
                <a:solidFill>
                  <a:schemeClr val="tx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1089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o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oinuddin-Documents-AIYatra-aiyatra-io-website-AIYatra-IO/2308713a-0ea2-48bd-bdbe-fd8ee0307722/scratchpad/media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50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355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AIYatra  ·  aiyatra.io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49808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3400" b="1" dirty="0">
                <a:solidFill>
                  <a:schemeClr val="tx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1089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moinuddin-Documents-AIYatra-aiyatra-io-website-AIYatra-IO/2308713a-0ea2-48bd-bdbe-fd8ee0307722/scratchpad/media/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4320" cy="250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355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AIYatra  ·  aiyatra.io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331720"/>
            <a:ext cx="64008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400" dirty="0">
                <a:solidFill>
                  <a:schemeClr val="accent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731520" y="2697480"/>
            <a:ext cx="6400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0000"/>
              </a:lnSpc>
              <a:buNone/>
              <a:defRPr lang="en-US" sz="4600" b="1" dirty="0">
                <a:solidFill>
                  <a:schemeClr val="bg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90000"/>
              </a:lnSpc>
              <a:buNone/>
            </a:pPr>
            <a:endParaRPr lang="en-US" sz="46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4343400"/>
            <a:ext cx="6035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7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1089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1089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aiyatra.io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tile"/>
          <p:cNvSpPr/>
          <p:nvPr/>
        </p:nvSpPr>
        <p:spPr>
          <a:xfrm>
            <a:off x="548640" y="457200"/>
            <a:ext cx="786384" cy="786384"/>
          </a:xfrm>
          <a:prstGeom prst="roundRect">
            <a:avLst>
              <a:gd name="adj" fmla="val 23256"/>
            </a:avLst>
          </a:prstGeom>
          <a:solidFill>
            <a:schemeClr val="bg1"/>
          </a:solidFill>
          <a:ln w="9525">
            <a:solidFill>
              <a:schemeClr val="accent1">
                <a:alpha val="15000"/>
              </a:schemeClr>
            </a:solidFill>
            <a:prstDash val="solid"/>
          </a:ln>
          <a:effectLst>
            <a:outerShdw blurRad="228600" dist="76200" dir="5400000" algn="bl" rotWithShape="0">
              <a:srgbClr val="2563EB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AIYatra logo" descr="/private/tmp/claude-501/-Users-moinuddin-Documents-AIYatra-aiyatra-io-website-AIYatra-IO/2308713a-0ea2-48bd-bdbe-fd8ee0307722/scratchpad/media/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66928"/>
            <a:ext cx="585216" cy="5349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81328" y="4754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Yatra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490472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AI COMMUNITY</a:t>
            </a:r>
            <a:endParaRPr lang="en-US" sz="1000" dirty="0"/>
          </a:p>
        </p:txBody>
      </p:sp>
      <p:sp>
        <p:nvSpPr>
          <p:cNvPr id="6" name="Text 3">
            <a:hlinkClick r:id="rId4"/>
          </p:cNvPr>
          <p:cNvSpPr txBox="1"/>
          <p:nvPr/>
        </p:nvSpPr>
        <p:spPr>
          <a:xfrm>
            <a:off x="9326880" y="64008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u="sng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aiyatra.io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178308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804672" y="1700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OPEN AI COMMUNITY</a:t>
            </a:r>
            <a:r>
              <a:rPr lang="en-US" sz="1100" b="1" kern="0" spc="300" dirty="0">
                <a:solidFill>
                  <a:schemeClr val="accent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/   </a:t>
            </a:r>
            <a:r>
              <a:rPr lang="en-US" sz="1100" b="1" kern="0" spc="3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HYDERABAD &amp; BEYOND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011680"/>
            <a:ext cx="6309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6000"/>
              </a:lnSpc>
              <a:buNone/>
            </a:pPr>
            <a:r>
              <a:rPr lang="en-US" sz="6400" b="1" kern="0" spc="-150" dirty="0">
                <a:solidFill>
                  <a:schemeClr val="tx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 AI.</a:t>
            </a:r>
            <a:endParaRPr lang="en-US" sz="64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6400" b="1" kern="0" spc="-150" dirty="0">
                <a:solidFill>
                  <a:schemeClr val="tx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with</a:t>
            </a:r>
            <a:endParaRPr lang="en-US" sz="640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6400" b="1" kern="0" spc="-150" dirty="0">
                <a:solidFill>
                  <a:schemeClr val="accent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people.</a:t>
            </a:r>
            <a:endParaRPr lang="en-US" sz="6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2803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place for students, builders and curious minds. Come for the meetups. Grow through campus chapters. Turn research into something real, together.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5779008"/>
            <a:ext cx="2302459" cy="530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blurRad="177800" dist="50800" dir="5400000" algn="bl" rotWithShape="0">
              <a:srgbClr val="2563E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58368" y="5888736"/>
            <a:ext cx="329184" cy="310896"/>
          </a:xfrm>
          <a:prstGeom prst="roundRect">
            <a:avLst>
              <a:gd name="adj" fmla="val 2647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658368" y="58887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5779008"/>
            <a:ext cx="16623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Saturday Meetups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033979" y="5779008"/>
            <a:ext cx="2571293" cy="530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blurRad="177800" dist="50800" dir="5400000" algn="bl" rotWithShape="0">
              <a:srgbClr val="2563E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3143707" y="5888736"/>
            <a:ext cx="329184" cy="310896"/>
          </a:xfrm>
          <a:prstGeom prst="roundRect">
            <a:avLst>
              <a:gd name="adj" fmla="val 2647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3143707" y="58887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582619" y="5779008"/>
            <a:ext cx="193121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Ambassadors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788152" y="5779008"/>
            <a:ext cx="2033626" cy="530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blurRad="177800" dist="50800" dir="5400000" algn="bl" rotWithShape="0">
              <a:srgbClr val="2563E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5897880" y="5888736"/>
            <a:ext cx="329184" cy="310896"/>
          </a:xfrm>
          <a:prstGeom prst="roundRect">
            <a:avLst>
              <a:gd name="adj" fmla="val 2647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5897880" y="58887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336792" y="5779008"/>
            <a:ext cx="13935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Labs</a:t>
            </a:r>
            <a:endParaRPr lang="en-US" sz="1300" dirty="0"/>
          </a:p>
        </p:txBody>
      </p:sp>
      <p:pic>
        <p:nvPicPr>
          <p:cNvPr id="23" name="Saturday meetup illustration" descr="/private/tmp/claude-501/-Users-moinuddin-Documents-AIYatra-aiyatra-io-website-AIYatra-IO/2308713a-0ea2-48bd-bdbe-fd8ee0307722/scratchpad/media/scene_alph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188720"/>
            <a:ext cx="4892040" cy="45811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 rot="-420000">
            <a:off x="6446520" y="1207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5A9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Big ideas start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3B5A9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a hello.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9189720" y="5120640"/>
            <a:ext cx="2514600" cy="5120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blurRad="203200" dist="76200" dir="5400000" algn="bl" rotWithShape="0">
              <a:srgbClr val="2563EB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9189720" y="512064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✳  A seat for your curiosity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086600" y="5897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MEET. BUILD. BELONG.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232" y="841248"/>
            <a:ext cx="777240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400" b="1">
                <a:solidFill>
                  <a:srgbClr val="22282E"/>
                </a:solidFill>
                <a:latin typeface="Space Grotesk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49424"/>
            <a:ext cx="54864" cy="438912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212848"/>
            <a:ext cx="53035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3770BE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2194560"/>
            <a:ext cx="283464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22282E"/>
                </a:solidFill>
                <a:latin typeface="Space Grotesk"/>
              </a:defRPr>
            </a:pPr>
            <a:r>
              <a:t>Big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221991"/>
            <a:ext cx="658368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656E76"/>
                </a:solidFill>
                <a:latin typeface="Inter"/>
              </a:defRPr>
            </a:pPr>
            <a:r>
              <a:rPr dirty="0"/>
              <a:t>Why frameworks matter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62656"/>
            <a:ext cx="54864" cy="438912"/>
          </a:xfrm>
          <a:prstGeom prst="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926080"/>
            <a:ext cx="53035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3C9678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907792"/>
            <a:ext cx="283464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22282E"/>
                </a:solidFill>
                <a:latin typeface="Space Grotesk"/>
              </a:defRPr>
            </a:pPr>
            <a:r>
              <a:t>LangChain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935224"/>
            <a:ext cx="658368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656E76"/>
                </a:solidFill>
                <a:latin typeface="Inter"/>
              </a:defRPr>
            </a:pPr>
            <a:r>
              <a:rPr dirty="0"/>
              <a:t>Models, prompts, components, and a RAG 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75887"/>
            <a:ext cx="54864" cy="438912"/>
          </a:xfrm>
          <a:prstGeom prst="rect">
            <a:avLst/>
          </a:prstGeom>
          <a:solidFill>
            <a:srgbClr val="E0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3639312"/>
            <a:ext cx="53035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E09141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3621024"/>
            <a:ext cx="283464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22282E"/>
                </a:solidFill>
                <a:latin typeface="Space Grotesk"/>
              </a:defRPr>
            </a:pPr>
            <a:r>
              <a:t>LangGraph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648456"/>
            <a:ext cx="658368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656E76"/>
                </a:solidFill>
                <a:latin typeface="Inter"/>
              </a:defRPr>
            </a:pPr>
            <a:r>
              <a:rPr dirty="0"/>
              <a:t>State, nodes, edges, routing, agents, and reliability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389120"/>
            <a:ext cx="54864" cy="438912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352544"/>
            <a:ext cx="53035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3770BE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334256"/>
            <a:ext cx="283464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22282E"/>
                </a:solidFill>
                <a:latin typeface="Space Grotesk"/>
              </a:defRPr>
            </a:pPr>
            <a:r>
              <a:t>LangSmith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361688"/>
            <a:ext cx="658368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656E76"/>
                </a:solidFill>
                <a:latin typeface="Inter"/>
              </a:defRPr>
            </a:pPr>
            <a:r>
              <a:rPr dirty="0"/>
              <a:t>Trace, debug, and evaluate application runs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02352"/>
            <a:ext cx="54864" cy="438912"/>
          </a:xfrm>
          <a:prstGeom prst="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5065776"/>
            <a:ext cx="530352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3C9678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5047488"/>
            <a:ext cx="283464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22282E"/>
                </a:solidFill>
                <a:latin typeface="Space Grotesk"/>
              </a:defRPr>
            </a:pPr>
            <a:r>
              <a:t>Takeaway +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074920"/>
            <a:ext cx="6583680" cy="310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656E76"/>
                </a:solidFill>
                <a:latin typeface="Inter"/>
              </a:defRPr>
            </a:pPr>
            <a:r>
              <a:t>Choose the right tools and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473952"/>
            <a:ext cx="6400800" cy="2154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00" b="1">
                <a:solidFill>
                  <a:srgbClr val="656E76"/>
                </a:solidFill>
                <a:latin typeface="Inter"/>
              </a:defRPr>
            </a:pPr>
            <a:r>
              <a:rPr dirty="0"/>
              <a:t>AIYATRA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55664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1">
                <a:solidFill>
                  <a:srgbClr val="656E76"/>
                </a:solidFill>
                <a:latin typeface="Inter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457200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656E76"/>
                </a:solidFill>
                <a:latin typeface="Inter"/>
              </a:defRPr>
            </a:pPr>
            <a:r>
              <a:rPr dirty="0"/>
              <a:t>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04672"/>
            <a:ext cx="91440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100" b="1">
                <a:solidFill>
                  <a:srgbClr val="22282E"/>
                </a:solidFill>
                <a:latin typeface="Space Grotesk"/>
              </a:defRPr>
            </a:pPr>
            <a:r>
              <a:t>The LangChain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81328"/>
            <a:ext cx="100584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656E76"/>
                </a:solidFill>
                <a:latin typeface="Inter"/>
              </a:defRPr>
            </a:pPr>
            <a:r>
              <a:t>Tools to build, orchestrate, and improve AI applications.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14884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2148840"/>
            <a:ext cx="64008" cy="2240280"/>
          </a:xfrm>
          <a:prstGeom prst="rect">
            <a:avLst/>
          </a:prstGeom>
          <a:solidFill>
            <a:srgbClr val="3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2404872"/>
            <a:ext cx="29718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22282E"/>
                </a:solidFill>
                <a:latin typeface="Space Grotesk"/>
              </a:defRPr>
            </a:pPr>
            <a:r>
              <a:rPr dirty="0"/>
              <a:t>LANGCHAIN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898648"/>
            <a:ext cx="297180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3770BE"/>
                </a:solidFill>
                <a:latin typeface="Inter"/>
              </a:defRPr>
            </a:pPr>
            <a:r>
              <a:rPr sz="1600" dirty="0"/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3319272"/>
            <a:ext cx="2971800" cy="4678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656E76"/>
                </a:solidFill>
                <a:latin typeface="Inter"/>
              </a:defRPr>
            </a:pPr>
            <a:r>
              <a:rPr sz="1400" dirty="0"/>
              <a:t>Models, prompts, retrievers,</a:t>
            </a:r>
            <a:endParaRPr lang="en-IN" sz="1400" dirty="0"/>
          </a:p>
          <a:p>
            <a:pPr>
              <a:defRPr sz="1300" b="0">
                <a:solidFill>
                  <a:srgbClr val="656E76"/>
                </a:solidFill>
                <a:latin typeface="Inter"/>
              </a:defRPr>
            </a:pPr>
            <a:r>
              <a:rPr sz="1400" dirty="0"/>
              <a:t>and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14884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2148840"/>
            <a:ext cx="64008" cy="2240280"/>
          </a:xfrm>
          <a:prstGeom prst="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2404872"/>
            <a:ext cx="29718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22282E"/>
                </a:solidFill>
                <a:latin typeface="Space Grotesk"/>
              </a:defRPr>
            </a:pPr>
            <a:r>
              <a:rPr dirty="0"/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898648"/>
            <a:ext cx="297180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3C9678"/>
                </a:solidFill>
                <a:latin typeface="Inter"/>
              </a:defRPr>
            </a:pPr>
            <a:r>
              <a:rPr sz="1600" dirty="0"/>
              <a:t>ORCHESTRATE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319272"/>
            <a:ext cx="2971800" cy="4678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656E76"/>
                </a:solidFill>
                <a:latin typeface="Inter"/>
              </a:defRPr>
            </a:pPr>
            <a:r>
              <a:rPr sz="1400" dirty="0"/>
              <a:t>Stateful workflows, routing,</a:t>
            </a:r>
            <a:endParaRPr lang="en-IN" sz="1400" dirty="0"/>
          </a:p>
          <a:p>
            <a:pPr>
              <a:defRPr sz="1300" b="0">
                <a:solidFill>
                  <a:srgbClr val="656E76"/>
                </a:solidFill>
                <a:latin typeface="Inter"/>
              </a:defRPr>
            </a:pPr>
            <a:r>
              <a:rPr sz="1400" dirty="0"/>
              <a:t>loops, and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214884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2148840"/>
            <a:ext cx="64008" cy="2240280"/>
          </a:xfrm>
          <a:prstGeom prst="rect">
            <a:avLst/>
          </a:prstGeom>
          <a:solidFill>
            <a:srgbClr val="E09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0456" y="2404872"/>
            <a:ext cx="29718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22282E"/>
                </a:solidFill>
                <a:latin typeface="Space Grotesk"/>
              </a:defRPr>
            </a:pPr>
            <a:r>
              <a:rPr dirty="0"/>
              <a:t>LANGSMITH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898648"/>
            <a:ext cx="297180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E09141"/>
                </a:solidFill>
                <a:latin typeface="Inter"/>
              </a:defRPr>
            </a:pPr>
            <a:r>
              <a:rPr sz="1600" dirty="0"/>
              <a:t>OBSERVE + 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3319272"/>
            <a:ext cx="2971800" cy="4678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656E76"/>
                </a:solidFill>
                <a:latin typeface="Inter"/>
              </a:defRPr>
            </a:pPr>
            <a:r>
              <a:rPr sz="1400" dirty="0"/>
              <a:t>Tracing, debugging, and</a:t>
            </a:r>
            <a:endParaRPr lang="en-IN" sz="1400" dirty="0"/>
          </a:p>
          <a:p>
            <a:pPr>
              <a:defRPr sz="1300" b="0">
                <a:solidFill>
                  <a:srgbClr val="656E76"/>
                </a:solidFill>
                <a:latin typeface="Inter"/>
              </a:defRPr>
            </a:pPr>
            <a:r>
              <a:rPr sz="1400" dirty="0"/>
              <a:t>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00600"/>
            <a:ext cx="10671048" cy="841248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965192"/>
            <a:ext cx="182880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3770BE"/>
                </a:solidFill>
                <a:latin typeface="Inter"/>
              </a:defRPr>
            </a:pPr>
            <a:r>
              <a:rPr sz="1400" dirty="0"/>
              <a:t>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948629"/>
            <a:ext cx="822960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2282E"/>
                </a:solidFill>
                <a:latin typeface="Inter"/>
              </a:defRPr>
            </a:pPr>
            <a:r>
              <a:rPr sz="1400" dirty="0"/>
              <a:t>Connect model providers, databases, APIs, and external tools.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473952"/>
            <a:ext cx="640080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1">
                <a:solidFill>
                  <a:srgbClr val="656E76"/>
                </a:solidFill>
                <a:latin typeface="Inter"/>
              </a:defRPr>
            </a:pPr>
            <a:r>
              <a:rPr dirty="0"/>
              <a:t>AIYATRA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455664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656E76"/>
                </a:solidFill>
                <a:latin typeface="Inter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2A5BD7"/>
                </a:solidFill>
                <a:latin typeface="Inter"/>
              </a:defRPr>
            </a:pPr>
            <a:r>
              <a:t>01 ·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000" b="1">
                <a:solidFill>
                  <a:srgbClr val="191C21"/>
                </a:solidFill>
                <a:latin typeface="Space Grotesk"/>
              </a:defRPr>
            </a:pPr>
            <a:r>
              <a:t>Why do we need these frameworks?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0700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An LLM call is only one part of a useful AI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646C76"/>
                </a:solidFill>
                <a:latin typeface="Inter"/>
              </a:defRPr>
            </a:pPr>
            <a:r>
              <a:rPr dirty="0" err="1"/>
              <a:t>AIYatra</a:t>
            </a:r>
            <a:r>
              <a:rPr dirty="0"/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3474720" cy="205740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54864" cy="2057400"/>
          </a:xfrm>
          <a:prstGeom prst="rect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84832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87168"/>
            <a:ext cx="309067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Generates a response from the input and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20240"/>
            <a:ext cx="3474720" cy="205740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54864" cy="2057400"/>
          </a:xfrm>
          <a:prstGeom prst="rect">
            <a:avLst/>
          </a:prstGeom>
          <a:solidFill>
            <a:srgbClr val="23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084832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87168"/>
            <a:ext cx="309067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Connects data, tools, steps, and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20240"/>
            <a:ext cx="3474720" cy="205740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920240"/>
            <a:ext cx="54864" cy="20574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084832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Quality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487168"/>
            <a:ext cx="309067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Tracks behavior, finds issues, and measures quality.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191C21"/>
                </a:solidFill>
                <a:latin typeface="Space Grotesk"/>
              </a:defRPr>
            </a:pPr>
            <a:r>
              <a:t>Build the components  →  control the workflow  →  understand the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2A5BD7"/>
                </a:solidFill>
                <a:latin typeface="Inter"/>
              </a:defRPr>
            </a:pPr>
            <a:r>
              <a:t>02 · LANGCHAIN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000" b="1">
                <a:solidFill>
                  <a:srgbClr val="191C21"/>
                </a:solidFill>
                <a:latin typeface="Space Grotesk"/>
              </a:defRPr>
            </a:pPr>
            <a:r>
              <a:t>What is LangChain?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0700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A framework for building applications powered by language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646C76"/>
                </a:solidFill>
                <a:latin typeface="Inter"/>
              </a:defRPr>
            </a:pPr>
            <a:r>
              <a:rPr dirty="0" err="1"/>
              <a:t>AIYatra</a:t>
            </a:r>
            <a:r>
              <a:rPr dirty="0"/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29000" cy="214884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4864" cy="2148840"/>
          </a:xfrm>
          <a:prstGeom prst="rect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rPr dirty="0"/>
              <a:t>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41448"/>
            <a:ext cx="30449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Connect chat models and embedding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214884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54864" cy="2148840"/>
          </a:xfrm>
          <a:prstGeom prst="rect">
            <a:avLst/>
          </a:prstGeom>
          <a:solidFill>
            <a:srgbClr val="23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Prompts +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41448"/>
            <a:ext cx="30449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Format instructions and connect relevant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74519"/>
            <a:ext cx="3429000" cy="214884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874519"/>
            <a:ext cx="54864" cy="214884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03911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41448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Connect the model to actions and APIs.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2A5BD7"/>
                </a:solidFill>
                <a:latin typeface="Space Grotesk"/>
              </a:defRPr>
            </a:pPr>
            <a:r>
              <a:rPr dirty="0" err="1"/>
              <a:t>LangChain</a:t>
            </a:r>
            <a:r>
              <a:rPr dirty="0"/>
              <a:t> helps connect reusable components around an LLM.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2A5BD7"/>
                </a:solidFill>
                <a:latin typeface="Inter"/>
              </a:defRPr>
            </a:pPr>
            <a:r>
              <a:t>02 · LANGCHAIN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000" b="1">
                <a:solidFill>
                  <a:srgbClr val="191C21"/>
                </a:solidFill>
                <a:latin typeface="Space Grotesk"/>
              </a:defRPr>
            </a:pPr>
            <a:r>
              <a:t>Direct API vs LangChain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0700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Both are valid; choose based on application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646C76"/>
                </a:solidFill>
                <a:latin typeface="Inter"/>
              </a:defRPr>
            </a:pPr>
            <a:r>
              <a:rPr dirty="0" err="1"/>
              <a:t>AIYatra</a:t>
            </a:r>
            <a:r>
              <a:rPr dirty="0"/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166360" cy="233172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54864" cy="2331720"/>
          </a:xfrm>
          <a:prstGeom prst="rect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Direct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41448"/>
            <a:ext cx="4782312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Good for simple, focused model calls.</a:t>
            </a:r>
          </a:p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endParaRPr sz="1400" dirty="0"/>
          </a:p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You control the request and response handling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5166360" cy="233172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54864" cy="2331720"/>
          </a:xfrm>
          <a:prstGeom prst="rect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039112"/>
            <a:ext cx="47823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LangChain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441448"/>
            <a:ext cx="4782312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Useful for reusable components and integrations.</a:t>
            </a:r>
          </a:p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endParaRPr sz="1400" dirty="0"/>
          </a:p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Connect models, prompts, retrieval, and 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1051560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2A5BD7"/>
                </a:solidFill>
                <a:latin typeface="Inter"/>
              </a:defRPr>
            </a:pPr>
            <a:r>
              <a:rPr sz="1700" dirty="0" err="1"/>
              <a:t>LangChain</a:t>
            </a:r>
            <a:r>
              <a:rPr sz="1700" dirty="0"/>
              <a:t> organizes application code; it does not replace the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2A5BD7"/>
                </a:solidFill>
                <a:latin typeface="Inter"/>
              </a:defRPr>
            </a:pPr>
            <a:r>
              <a:t>03 ·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000" b="1">
                <a:solidFill>
                  <a:srgbClr val="191C21"/>
                </a:solidFill>
                <a:latin typeface="Space Grotesk"/>
              </a:defRPr>
            </a:pPr>
            <a:r>
              <a:t>LangChain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07008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46C76"/>
                </a:solidFill>
                <a:latin typeface="Inter"/>
              </a:defRPr>
            </a:pPr>
            <a:r>
              <a:t>The pieces used to assemble an AI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646C76"/>
                </a:solidFill>
                <a:latin typeface="Inter"/>
              </a:defRPr>
            </a:pPr>
            <a:r>
              <a:rPr dirty="0" err="1"/>
              <a:t>AIYatra</a:t>
            </a:r>
            <a:r>
              <a:rPr dirty="0"/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429000" cy="214884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4864" cy="2148840"/>
          </a:xfrm>
          <a:prstGeom prst="rect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78608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Chat models and embedding models provide generation and vector representations.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429000" cy="214884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54864" cy="2148840"/>
          </a:xfrm>
          <a:prstGeom prst="rect">
            <a:avLst/>
          </a:prstGeom>
          <a:solidFill>
            <a:srgbClr val="23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Prompt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78608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Reusable instructions with variables; format messages for the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011680"/>
            <a:ext cx="3429000" cy="214884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9" y="2011680"/>
            <a:ext cx="54864" cy="214884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217627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Output parsers +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578608"/>
            <a:ext cx="304495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Parse model output into a usable format; tools let agents call functions or APIs.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2A5BD7"/>
                </a:solidFill>
                <a:latin typeface="Inter"/>
              </a:defRPr>
            </a:pPr>
            <a:r>
              <a:t>04 ·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000" b="1">
                <a:solidFill>
                  <a:srgbClr val="191C21"/>
                </a:solidFill>
                <a:latin typeface="Space Grotesk"/>
              </a:defRPr>
            </a:pPr>
            <a:r>
              <a:t>Where can we use LangChain?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0700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Common patterns for LLM-powered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646C76"/>
                </a:solidFill>
                <a:latin typeface="Inter"/>
              </a:defRPr>
            </a:pPr>
            <a:r>
              <a:rPr dirty="0" err="1"/>
              <a:t>AIYatra</a:t>
            </a:r>
            <a:r>
              <a:rPr dirty="0"/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29000" cy="219456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4864" cy="2194560"/>
          </a:xfrm>
          <a:prstGeom prst="rect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8483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Answer using PDFs and knowledge bases.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29000" cy="219456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54864" cy="2194560"/>
          </a:xfrm>
          <a:prstGeom prst="rect">
            <a:avLst/>
          </a:prstGeom>
          <a:solidFill>
            <a:srgbClr val="23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08483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Chatbots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87168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Conversational applications with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20240"/>
            <a:ext cx="3429000" cy="219456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54864" cy="219456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08483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87168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Connect APIs, databases, and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2A5BD7"/>
                </a:solidFill>
                <a:latin typeface="Inter"/>
              </a:defRPr>
            </a:pPr>
            <a:r>
              <a:t>Use the components that fit your application's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2A5BD7"/>
                </a:solidFill>
                <a:latin typeface="Inter"/>
              </a:defRPr>
            </a:pPr>
            <a:r>
              <a:t>05 · LANGGRAPH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000" b="1">
                <a:solidFill>
                  <a:srgbClr val="191C21"/>
                </a:solidFill>
                <a:latin typeface="Space Grotesk"/>
              </a:defRPr>
            </a:pPr>
            <a:r>
              <a:t>What is LangGraph?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0700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A framework for stateful, controllable multi-step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646C76"/>
                </a:solidFill>
                <a:latin typeface="Inter"/>
              </a:defRPr>
            </a:pPr>
            <a:r>
              <a:rPr dirty="0" err="1"/>
              <a:t>AIYatra</a:t>
            </a:r>
            <a:r>
              <a:rPr dirty="0"/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240280" cy="123444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91C21"/>
                </a:solidFill>
                <a:latin typeface="Space Grotesk"/>
              </a:defRPr>
            </a:pPr>
            <a: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5292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>
                <a:solidFill>
                  <a:srgbClr val="646C76"/>
                </a:solidFill>
                <a:latin typeface="Inter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670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2A5BD7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40280"/>
            <a:ext cx="2240280" cy="123444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24688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91C21"/>
                </a:solidFill>
                <a:latin typeface="Space Grotesk"/>
              </a:defRPr>
            </a:pPr>
            <a: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5292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>
                <a:solidFill>
                  <a:srgbClr val="646C76"/>
                </a:solidFill>
                <a:latin typeface="Inter"/>
              </a:defRPr>
            </a:pPr>
            <a:r>
              <a:t>Reason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670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2A5BD7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240280"/>
            <a:ext cx="2240280" cy="123444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24688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91C21"/>
                </a:solidFill>
                <a:latin typeface="Space Grotesk"/>
              </a:defRPr>
            </a:pPr>
            <a:r>
              <a:t>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85292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>
                <a:solidFill>
                  <a:srgbClr val="646C76"/>
                </a:solidFill>
                <a:latin typeface="Inter"/>
              </a:defRPr>
            </a:pPr>
            <a: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670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2A5BD7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240280"/>
            <a:ext cx="2240280" cy="123444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19" y="24688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191C21"/>
                </a:solidFill>
                <a:latin typeface="Space Grotesk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285292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0">
                <a:solidFill>
                  <a:srgbClr val="646C76"/>
                </a:solidFill>
                <a:latin typeface="Inter"/>
              </a:defRPr>
            </a:pPr>
            <a:r>
              <a:t>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191C21"/>
                </a:solidFill>
                <a:latin typeface="Inter"/>
              </a:defRPr>
            </a:pPr>
            <a:r>
              <a:t>Nodes = steps  ·  Edges = transitions  ·  State = shared 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Branch, loop, retry, or continue based on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49377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1">
                <a:solidFill>
                  <a:srgbClr val="37A97D"/>
                </a:solidFill>
                <a:latin typeface="Inter"/>
              </a:defRPr>
            </a:pPr>
            <a:r>
              <a:t>05 · LANGGRAPH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78992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D2430"/>
                </a:solidFill>
                <a:latin typeface="Space Grotesk"/>
              </a:defRPr>
            </a:pPr>
            <a:r>
              <a:t>LangGraph workflow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53312"/>
            <a:ext cx="1051560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RAG agent: retrieve → generate → evaluate → answer or retry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600200" cy="1051560"/>
          </a:xfrm>
          <a:prstGeom prst="roundRect">
            <a:avLst/>
          </a:prstGeom>
          <a:solidFill>
            <a:srgbClr val="EBF3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2148840"/>
            <a:ext cx="1600200" cy="64008"/>
          </a:xfrm>
          <a:prstGeom prst="rect">
            <a:avLst/>
          </a:prstGeom>
          <a:solidFill>
            <a:srgbClr val="438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313432"/>
            <a:ext cx="138074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500" b="1">
                <a:solidFill>
                  <a:srgbClr val="1D2430"/>
                </a:solidFill>
                <a:latin typeface="Space Grotesk"/>
              </a:defRPr>
            </a:pPr>
            <a: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9192"/>
            <a:ext cx="1380744" cy="44805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5F6975"/>
                </a:solidFill>
                <a:latin typeface="Inter"/>
              </a:defRPr>
            </a:pPr>
            <a:r>
              <a:t>User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148840"/>
            <a:ext cx="1874519" cy="1051560"/>
          </a:xfrm>
          <a:prstGeom prst="roundRect">
            <a:avLst/>
          </a:prstGeom>
          <a:solidFill>
            <a:srgbClr val="E8F6E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88920" y="2148840"/>
            <a:ext cx="1874519" cy="64008"/>
          </a:xfrm>
          <a:prstGeom prst="rect">
            <a:avLst/>
          </a:prstGeom>
          <a:solidFill>
            <a:srgbClr val="37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98648" y="2313432"/>
            <a:ext cx="1655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500" b="1">
                <a:solidFill>
                  <a:srgbClr val="1D2430"/>
                </a:solidFill>
                <a:latin typeface="Space Grotesk"/>
              </a:defRPr>
            </a:pPr>
            <a:r>
              <a:t>Retrieve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679192"/>
            <a:ext cx="1655063" cy="44805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5F6975"/>
                </a:solidFill>
                <a:latin typeface="Inter"/>
              </a:defRPr>
            </a:pPr>
            <a:r>
              <a:t>Find relevant chunks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148840"/>
            <a:ext cx="1874519" cy="1051560"/>
          </a:xfrm>
          <a:prstGeom prst="roundRect">
            <a:avLst/>
          </a:prstGeom>
          <a:solidFill>
            <a:srgbClr val="EBF3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66360" y="2148840"/>
            <a:ext cx="1874519" cy="64008"/>
          </a:xfrm>
          <a:prstGeom prst="rect">
            <a:avLst/>
          </a:prstGeom>
          <a:solidFill>
            <a:srgbClr val="438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2313432"/>
            <a:ext cx="1655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500" b="1">
                <a:solidFill>
                  <a:srgbClr val="1D2430"/>
                </a:solidFill>
                <a:latin typeface="Space Grotesk"/>
              </a:defRPr>
            </a:pPr>
            <a:r>
              <a:t>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679192"/>
            <a:ext cx="1655063" cy="44805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5F6975"/>
                </a:solidFill>
                <a:latin typeface="Inter"/>
              </a:defRPr>
            </a:pPr>
            <a:r>
              <a:t>LLM drafts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148840"/>
            <a:ext cx="1874519" cy="1051560"/>
          </a:xfrm>
          <a:prstGeom prst="roundRect">
            <a:avLst/>
          </a:prstGeom>
          <a:solidFill>
            <a:srgbClr val="FCF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148840"/>
            <a:ext cx="1874519" cy="64008"/>
          </a:xfrm>
          <a:prstGeom prst="rect">
            <a:avLst/>
          </a:prstGeom>
          <a:solidFill>
            <a:srgbClr val="E8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53527" y="2313432"/>
            <a:ext cx="1655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500" b="1">
                <a:solidFill>
                  <a:srgbClr val="1D2430"/>
                </a:solidFill>
                <a:latin typeface="Space Grotesk"/>
              </a:defRPr>
            </a:pPr>
            <a: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7" y="2679192"/>
            <a:ext cx="1655063" cy="44805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5F6975"/>
                </a:solidFill>
                <a:latin typeface="Inter"/>
              </a:defRPr>
            </a:pPr>
            <a:r>
              <a:t>Check relevance</a:t>
            </a:r>
          </a:p>
        </p:txBody>
      </p:sp>
      <p:sp>
        <p:nvSpPr>
          <p:cNvPr id="21" name="Diamond 20"/>
          <p:cNvSpPr/>
          <p:nvPr/>
        </p:nvSpPr>
        <p:spPr>
          <a:xfrm>
            <a:off x="9921240" y="2029968"/>
            <a:ext cx="1417320" cy="1325880"/>
          </a:xfrm>
          <a:prstGeom prst="diamond">
            <a:avLst/>
          </a:prstGeom>
          <a:solidFill>
            <a:srgbClr val="FFFFFF"/>
          </a:solidFill>
          <a:ln>
            <a:solidFill>
              <a:srgbClr val="E8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85832" y="2450592"/>
            <a:ext cx="1078992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1">
                <a:solidFill>
                  <a:srgbClr val="1D2430"/>
                </a:solidFill>
                <a:latin typeface="Inter"/>
              </a:defRPr>
            </a:pPr>
            <a:r>
              <a:t>Relevant?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160520"/>
            <a:ext cx="2057400" cy="960120"/>
          </a:xfrm>
          <a:prstGeom prst="roundRect">
            <a:avLst/>
          </a:prstGeom>
          <a:solidFill>
            <a:srgbClr val="E8F6E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4160520"/>
            <a:ext cx="2057400" cy="64008"/>
          </a:xfrm>
          <a:prstGeom prst="rect">
            <a:avLst/>
          </a:prstGeom>
          <a:solidFill>
            <a:srgbClr val="37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4325112"/>
            <a:ext cx="183794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500" b="1">
                <a:solidFill>
                  <a:srgbClr val="1D2430"/>
                </a:solidFill>
                <a:latin typeface="Space Grotesk"/>
              </a:defRPr>
            </a:pPr>
            <a:r>
              <a:t>END /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4690872"/>
            <a:ext cx="1837943" cy="3566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5F6975"/>
                </a:solidFill>
                <a:latin typeface="Inter"/>
              </a:defRPr>
            </a:pPr>
            <a:r>
              <a:t>Return response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160520"/>
            <a:ext cx="2240280" cy="960120"/>
          </a:xfrm>
          <a:prstGeom prst="roundRect">
            <a:avLst/>
          </a:prstGeom>
          <a:solidFill>
            <a:srgbClr val="FCF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83480" y="4160520"/>
            <a:ext cx="2240280" cy="64008"/>
          </a:xfrm>
          <a:prstGeom prst="rect">
            <a:avLst/>
          </a:prstGeom>
          <a:solidFill>
            <a:srgbClr val="E8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93208" y="4325112"/>
            <a:ext cx="202082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500" b="1">
                <a:solidFill>
                  <a:srgbClr val="1D2430"/>
                </a:solidFill>
                <a:latin typeface="Space Grotesk"/>
              </a:defRPr>
            </a:pPr>
            <a:r>
              <a:t>Rewrite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3208" y="4690872"/>
            <a:ext cx="2020824" cy="3566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5F6975"/>
                </a:solidFill>
                <a:latin typeface="Inter"/>
              </a:defRPr>
            </a:pPr>
            <a:r>
              <a:t>Improve retrieval query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86000" y="2670048"/>
            <a:ext cx="502920" cy="0"/>
          </a:xfrm>
          <a:prstGeom prst="line">
            <a:avLst/>
          </a:prstGeom>
          <a:ln w="25400">
            <a:solidFill>
              <a:srgbClr val="5F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63440" y="2670048"/>
            <a:ext cx="502920" cy="0"/>
          </a:xfrm>
          <a:prstGeom prst="line">
            <a:avLst/>
          </a:prstGeom>
          <a:ln w="25400">
            <a:solidFill>
              <a:srgbClr val="5F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40880" y="2670048"/>
            <a:ext cx="502920" cy="0"/>
          </a:xfrm>
          <a:prstGeom prst="line">
            <a:avLst/>
          </a:prstGeom>
          <a:ln w="25400">
            <a:solidFill>
              <a:srgbClr val="5F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418320" y="2670048"/>
            <a:ext cx="502920" cy="0"/>
          </a:xfrm>
          <a:prstGeom prst="line">
            <a:avLst/>
          </a:prstGeom>
          <a:ln w="25400">
            <a:solidFill>
              <a:srgbClr val="5F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326880" y="3355848"/>
            <a:ext cx="1298448" cy="804672"/>
          </a:xfrm>
          <a:prstGeom prst="line">
            <a:avLst/>
          </a:prstGeom>
          <a:ln w="25400">
            <a:solidFill>
              <a:srgbClr val="37A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921240" y="3493008"/>
            <a:ext cx="7315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00" b="1">
                <a:solidFill>
                  <a:srgbClr val="37A97D"/>
                </a:solidFill>
                <a:latin typeface="Inter"/>
              </a:defRPr>
            </a:pPr>
            <a:r>
              <a:t>YES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812280" y="2971800"/>
            <a:ext cx="3246120" cy="1188720"/>
          </a:xfrm>
          <a:prstGeom prst="line">
            <a:avLst/>
          </a:prstGeom>
          <a:ln w="25400">
            <a:solidFill>
              <a:srgbClr val="E89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18120" y="3456432"/>
            <a:ext cx="7315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00" b="1">
                <a:solidFill>
                  <a:srgbClr val="E89146"/>
                </a:solidFill>
                <a:latin typeface="Inter"/>
              </a:defRPr>
            </a:pPr>
            <a:r>
              <a:t>NO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3703320" y="3200400"/>
            <a:ext cx="1280160" cy="1444752"/>
          </a:xfrm>
          <a:prstGeom prst="line">
            <a:avLst/>
          </a:prstGeom>
          <a:ln w="25400">
            <a:solidFill>
              <a:srgbClr val="E89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11880" y="3767328"/>
            <a:ext cx="10515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00" b="1">
                <a:solidFill>
                  <a:srgbClr val="E89146"/>
                </a:solidFill>
                <a:latin typeface="Inter"/>
              </a:defRPr>
            </a:pPr>
            <a:r>
              <a:t>retry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715000"/>
            <a:ext cx="1051560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State carries the question, retrieved chunks, draft answer, and evaluation result between nodes.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473952"/>
            <a:ext cx="5303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F6975"/>
                </a:solidFill>
                <a:latin typeface="Inter"/>
              </a:defRPr>
            </a:pPr>
            <a:r>
              <a:t>AIYATRA  ·  LANGGRAPH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6473952"/>
            <a:ext cx="8229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1">
                <a:solidFill>
                  <a:srgbClr val="37A97D"/>
                </a:solidFill>
                <a:latin typeface="Inter"/>
              </a:defRPr>
            </a:pPr>
            <a:r>
              <a:t>LANGGRAPH •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7899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D2430"/>
                </a:solidFill>
                <a:latin typeface="Space Grotesk"/>
              </a:defRPr>
            </a:pPr>
            <a:r>
              <a:t>LangGraph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89888"/>
            <a:ext cx="1060704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A graph describes how an application moves from one step to the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73952"/>
            <a:ext cx="5303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F6975"/>
                </a:solidFill>
                <a:latin typeface="Inter"/>
              </a:defRPr>
            </a:pPr>
            <a:r>
              <a:t>AIYATRA •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8229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2606040" cy="1828800"/>
          </a:xfrm>
          <a:prstGeom prst="roundRect">
            <a:avLst/>
          </a:prstGeom>
          <a:solidFill>
            <a:srgbClr val="EBF3FC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2606040" cy="64008"/>
          </a:xfrm>
          <a:prstGeom prst="rect">
            <a:avLst/>
          </a:prstGeom>
          <a:solidFill>
            <a:srgbClr val="438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58568"/>
            <a:ext cx="227685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15768"/>
            <a:ext cx="2276856" cy="6832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Shared data that carries the current query, retrieved context, and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057400"/>
            <a:ext cx="2606040" cy="1828800"/>
          </a:xfrm>
          <a:prstGeom prst="roundRect">
            <a:avLst/>
          </a:prstGeom>
          <a:solidFill>
            <a:srgbClr val="E8F6EF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2057400"/>
            <a:ext cx="2606040" cy="64008"/>
          </a:xfrm>
          <a:prstGeom prst="rect">
            <a:avLst/>
          </a:prstGeom>
          <a:solidFill>
            <a:srgbClr val="37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2" y="2258568"/>
            <a:ext cx="227685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715768"/>
            <a:ext cx="2276856" cy="6832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Individual steps: call a model, retrieve documents, run a tool, or validate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57400"/>
            <a:ext cx="2606040" cy="1828800"/>
          </a:xfrm>
          <a:prstGeom prst="roundRect">
            <a:avLst/>
          </a:prstGeom>
          <a:solidFill>
            <a:srgbClr val="FCF1E6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2057400"/>
            <a:ext cx="2606040" cy="64008"/>
          </a:xfrm>
          <a:prstGeom prst="rect">
            <a:avLst/>
          </a:prstGeom>
          <a:solidFill>
            <a:srgbClr val="E8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2258568"/>
            <a:ext cx="227685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715768"/>
            <a:ext cx="2276856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Connections that define which step runs next.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05740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2057400"/>
            <a:ext cx="2331720" cy="64008"/>
          </a:xfrm>
          <a:prstGeom prst="rect">
            <a:avLst/>
          </a:prstGeom>
          <a:solidFill>
            <a:srgbClr val="438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62872" y="2258568"/>
            <a:ext cx="200253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START / 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715768"/>
            <a:ext cx="2002536" cy="6832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Entry and exit points that mark the workflow boundary.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700" b="1">
                <a:solidFill>
                  <a:srgbClr val="1D2430"/>
                </a:solidFill>
                <a:latin typeface="Space Grotesk"/>
              </a:defRPr>
            </a:pPr>
            <a:r>
              <a:t>Think: State = what we know • Node = what we do • Edge = where we 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1">
                <a:solidFill>
                  <a:srgbClr val="37A97D"/>
                </a:solidFill>
                <a:latin typeface="Inter"/>
              </a:defRPr>
            </a:pPr>
            <a:r>
              <a:t>LANGGRAPH •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7899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D2430"/>
                </a:solidFill>
                <a:latin typeface="Space Grotesk"/>
              </a:defRPr>
            </a:pPr>
            <a:r>
              <a:t>How a LangGraph workflow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89888"/>
            <a:ext cx="1060704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The graph runs steps in order, updates state, and follows the next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73952"/>
            <a:ext cx="5303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F6975"/>
                </a:solidFill>
                <a:latin typeface="Inter"/>
              </a:defRPr>
            </a:pPr>
            <a:r>
              <a:t>AIYATRA •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8229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1965960" cy="1508760"/>
          </a:xfrm>
          <a:prstGeom prst="roundRect">
            <a:avLst/>
          </a:prstGeom>
          <a:solidFill>
            <a:srgbClr val="EBF3FC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1965960" cy="64008"/>
          </a:xfrm>
          <a:prstGeom prst="rect">
            <a:avLst/>
          </a:prstGeom>
          <a:solidFill>
            <a:srgbClr val="438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532888"/>
            <a:ext cx="16367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01 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90087"/>
            <a:ext cx="1636776" cy="7315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t>Receive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852928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5F697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0088" y="2331720"/>
            <a:ext cx="1965960" cy="1508760"/>
          </a:xfrm>
          <a:prstGeom prst="roundRect">
            <a:avLst/>
          </a:prstGeom>
          <a:solidFill>
            <a:srgbClr val="E8F6EF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90088" y="2331720"/>
            <a:ext cx="1965960" cy="64008"/>
          </a:xfrm>
          <a:prstGeom prst="rect">
            <a:avLst/>
          </a:prstGeom>
          <a:solidFill>
            <a:srgbClr val="37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2532888"/>
            <a:ext cx="16367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02 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90087"/>
            <a:ext cx="1636776" cy="7315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t>Run a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852928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5F697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4376" y="2331720"/>
            <a:ext cx="1965960" cy="1508760"/>
          </a:xfrm>
          <a:prstGeom prst="roundRect">
            <a:avLst/>
          </a:prstGeom>
          <a:solidFill>
            <a:srgbClr val="FCF1E6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94376" y="2331720"/>
            <a:ext cx="1965960" cy="64008"/>
          </a:xfrm>
          <a:prstGeom prst="rect">
            <a:avLst/>
          </a:prstGeom>
          <a:solidFill>
            <a:srgbClr val="E8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58968" y="2532888"/>
            <a:ext cx="16367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03 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2990087"/>
            <a:ext cx="1636776" cy="7315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t>Update shared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2852928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5F697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98664" y="2331720"/>
            <a:ext cx="1965960" cy="1508760"/>
          </a:xfrm>
          <a:prstGeom prst="roundRect">
            <a:avLst/>
          </a:prstGeom>
          <a:solidFill>
            <a:srgbClr val="EBF3FC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98664" y="2331720"/>
            <a:ext cx="1965960" cy="64008"/>
          </a:xfrm>
          <a:prstGeom prst="rect">
            <a:avLst/>
          </a:prstGeom>
          <a:solidFill>
            <a:srgbClr val="438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63256" y="2532888"/>
            <a:ext cx="16367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04  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990087"/>
            <a:ext cx="1636776" cy="7315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t>Choose next step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4624" y="2852928"/>
            <a:ext cx="3200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5F6975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2952" y="2331720"/>
            <a:ext cx="1965960" cy="1508760"/>
          </a:xfrm>
          <a:prstGeom prst="roundRect">
            <a:avLst/>
          </a:prstGeom>
          <a:solidFill>
            <a:srgbClr val="E8F6EF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902952" y="2331720"/>
            <a:ext cx="1965960" cy="64008"/>
          </a:xfrm>
          <a:prstGeom prst="rect">
            <a:avLst/>
          </a:prstGeom>
          <a:solidFill>
            <a:srgbClr val="37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67544" y="2532888"/>
            <a:ext cx="16367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05  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67544" y="2990087"/>
            <a:ext cx="1636776" cy="7315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t>Return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34840"/>
            <a:ext cx="1014984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700" b="1">
                <a:solidFill>
                  <a:srgbClr val="1D2430"/>
                </a:solidFill>
                <a:latin typeface="Space Grotesk"/>
              </a:defRPr>
            </a:pPr>
            <a:r>
              <a:rPr dirty="0"/>
              <a:t>If a node changes state, the next node can use that updated information.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1">
                <a:solidFill>
                  <a:srgbClr val="37A97D"/>
                </a:solidFill>
                <a:latin typeface="Inter"/>
              </a:defRPr>
            </a:pPr>
            <a:r>
              <a:t>LANGGRAPH • PRODUCTION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7899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D2430"/>
                </a:solidFill>
                <a:latin typeface="Space Grotesk"/>
              </a:defRPr>
            </a:pPr>
            <a:r>
              <a:t>Human approval, retries,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89888"/>
            <a:ext cx="1060704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Graph workflows can make checkpoints and recovery paths part of the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73952"/>
            <a:ext cx="5303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F6975"/>
                </a:solidFill>
                <a:latin typeface="Inter"/>
              </a:defRPr>
            </a:pPr>
            <a:r>
              <a:t>AIYATRA •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8229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337560" cy="1645920"/>
          </a:xfrm>
          <a:prstGeom prst="roundRect">
            <a:avLst/>
          </a:prstGeom>
          <a:solidFill>
            <a:srgbClr val="EBF3FC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337560" cy="64008"/>
          </a:xfrm>
          <a:prstGeom prst="rect">
            <a:avLst/>
          </a:prstGeom>
          <a:solidFill>
            <a:srgbClr val="438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350008"/>
            <a:ext cx="30083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Human-in-the-loop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07208"/>
            <a:ext cx="3008376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Pause before a sensitive action; let a person approve, edit, or reject.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37560" cy="1645920"/>
          </a:xfrm>
          <a:prstGeom prst="roundRect">
            <a:avLst/>
          </a:prstGeom>
          <a:solidFill>
            <a:srgbClr val="FCF1E6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148840"/>
            <a:ext cx="3337560" cy="64008"/>
          </a:xfrm>
          <a:prstGeom prst="rect">
            <a:avLst/>
          </a:prstGeom>
          <a:solidFill>
            <a:srgbClr val="E8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2350008"/>
            <a:ext cx="30083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Retry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807208"/>
            <a:ext cx="3008376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If a step fails or output is weak, route to retry or another strategy.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48840"/>
            <a:ext cx="3337560" cy="1645920"/>
          </a:xfrm>
          <a:prstGeom prst="roundRect">
            <a:avLst/>
          </a:prstGeom>
          <a:solidFill>
            <a:srgbClr val="E8F6EF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148840"/>
            <a:ext cx="3337560" cy="64008"/>
          </a:xfrm>
          <a:prstGeom prst="rect">
            <a:avLst/>
          </a:prstGeom>
          <a:solidFill>
            <a:srgbClr val="37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2350008"/>
            <a:ext cx="30083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Checkpointing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807208"/>
            <a:ext cx="3008376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Persist workflow state so execution can resume from a saved 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05840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600" b="1">
                <a:solidFill>
                  <a:srgbClr val="1D2430"/>
                </a:solidFill>
                <a:latin typeface="Space Grotesk"/>
              </a:defRPr>
            </a:pPr>
            <a:r>
              <a:rPr dirty="0"/>
              <a:t>Use these patterns when workflows are long-running, risky, or need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900" b="1">
                <a:solidFill>
                  <a:srgbClr val="37A97D"/>
                </a:solidFill>
                <a:latin typeface="Inter"/>
              </a:defRPr>
            </a:pPr>
            <a:r>
              <a:t>LANGGRAPH •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7899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2700" b="1">
                <a:solidFill>
                  <a:srgbClr val="1D2430"/>
                </a:solidFill>
                <a:latin typeface="Space Grotesk"/>
              </a:defRPr>
            </a:pPr>
            <a:r>
              <a:t>Where LangGraph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89888"/>
            <a:ext cx="1060704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Use a graph when an application needs more than a single linear model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73952"/>
            <a:ext cx="530352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700" b="1">
                <a:solidFill>
                  <a:srgbClr val="5F6975"/>
                </a:solidFill>
                <a:latin typeface="Inter"/>
              </a:defRPr>
            </a:pPr>
            <a:r>
              <a:t>AIYATRA •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82296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333756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3337560" cy="64008"/>
          </a:xfrm>
          <a:prstGeom prst="rect">
            <a:avLst/>
          </a:prstGeom>
          <a:solidFill>
            <a:srgbClr val="438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30083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RAG with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15768"/>
            <a:ext cx="3008376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Retrieve → evaluate context → retry or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57400"/>
            <a:ext cx="3337560" cy="1417320"/>
          </a:xfrm>
          <a:prstGeom prst="roundRect">
            <a:avLst/>
          </a:prstGeom>
          <a:solidFill>
            <a:srgbClr val="E8F6EF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057400"/>
            <a:ext cx="3337560" cy="64008"/>
          </a:xfrm>
          <a:prstGeom prst="rect">
            <a:avLst/>
          </a:prstGeom>
          <a:solidFill>
            <a:srgbClr val="37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2258568"/>
            <a:ext cx="30083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Multi-tool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715768"/>
            <a:ext cx="3008376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Choose tools, execute actions, and loop over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57400"/>
            <a:ext cx="3337560" cy="1417320"/>
          </a:xfrm>
          <a:prstGeom prst="roundRect">
            <a:avLst/>
          </a:prstGeom>
          <a:solidFill>
            <a:srgbClr val="FCF1E6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057400"/>
            <a:ext cx="3337560" cy="64008"/>
          </a:xfrm>
          <a:prstGeom prst="rect">
            <a:avLst/>
          </a:prstGeom>
          <a:solidFill>
            <a:srgbClr val="E8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2258568"/>
            <a:ext cx="30083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Approval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715768"/>
            <a:ext cx="3008376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Draft an action → human review → continue or stop.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94760"/>
            <a:ext cx="3337560" cy="1417320"/>
          </a:xfrm>
          <a:prstGeom prst="roundRect">
            <a:avLst/>
          </a:prstGeom>
          <a:solidFill>
            <a:srgbClr val="E8F6EF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794760"/>
            <a:ext cx="3337560" cy="64008"/>
          </a:xfrm>
          <a:prstGeom prst="rect">
            <a:avLst/>
          </a:prstGeom>
          <a:solidFill>
            <a:srgbClr val="37A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3995928"/>
            <a:ext cx="30083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Support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453128"/>
            <a:ext cx="3008376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Route billing, technical, or account questions to different paths.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794760"/>
            <a:ext cx="3337560" cy="1417320"/>
          </a:xfrm>
          <a:prstGeom prst="roundRect">
            <a:avLst/>
          </a:prstGeom>
          <a:solidFill>
            <a:srgbClr val="FCF1E6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794760"/>
            <a:ext cx="3337560" cy="64008"/>
          </a:xfrm>
          <a:prstGeom prst="rect">
            <a:avLst/>
          </a:prstGeom>
          <a:solidFill>
            <a:srgbClr val="E8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9431" y="3995928"/>
            <a:ext cx="30083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Research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4453128"/>
            <a:ext cx="3008376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Plan → search → summarize → verify.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794760"/>
            <a:ext cx="3337560" cy="1417320"/>
          </a:xfrm>
          <a:prstGeom prst="roundRect">
            <a:avLst/>
          </a:prstGeom>
          <a:solidFill>
            <a:srgbClr val="EBF3FC"/>
          </a:solidFill>
          <a:ln>
            <a:solidFill>
              <a:srgbClr val="E5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92440" y="3794760"/>
            <a:ext cx="3337560" cy="64008"/>
          </a:xfrm>
          <a:prstGeom prst="rect">
            <a:avLst/>
          </a:prstGeom>
          <a:solidFill>
            <a:srgbClr val="438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57031" y="3995928"/>
            <a:ext cx="3008376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800" b="1">
                <a:solidFill>
                  <a:srgbClr val="1D2430"/>
                </a:solidFill>
                <a:latin typeface="Space Grotesk"/>
              </a:defRPr>
            </a:pPr>
            <a:r>
              <a:t>Data 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4453128"/>
            <a:ext cx="3008376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defRPr sz="1300" b="0">
                <a:solidFill>
                  <a:srgbClr val="5F6975"/>
                </a:solidFill>
                <a:latin typeface="Inter"/>
              </a:defRPr>
            </a:pPr>
            <a:r>
              <a:rPr sz="1400" dirty="0"/>
              <a:t>Validate → transform → handle errors → produce output.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2A5BD7"/>
                </a:solidFill>
                <a:latin typeface="Inter"/>
              </a:defRPr>
            </a:pPr>
            <a:r>
              <a:t>06 ·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000" b="1">
                <a:solidFill>
                  <a:srgbClr val="191C21"/>
                </a:solidFill>
                <a:latin typeface="Space Grotesk"/>
              </a:defRPr>
            </a:pPr>
            <a:r>
              <a:t>LangChain vs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0700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They complement each other; they are not competing frameworks.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646C76"/>
                </a:solidFill>
                <a:latin typeface="Inter"/>
              </a:defRPr>
            </a:pPr>
            <a:r>
              <a:rPr dirty="0" err="1"/>
              <a:t>AIYatra</a:t>
            </a:r>
            <a:r>
              <a:rPr dirty="0"/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29000" cy="233172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4864" cy="2331720"/>
          </a:xfrm>
          <a:prstGeom prst="rect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LangChain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41448"/>
            <a:ext cx="30449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Components:</a:t>
            </a:r>
          </a:p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models, prompts, retrieval, tools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233172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54864" cy="2331720"/>
          </a:xfrm>
          <a:prstGeom prst="rect">
            <a:avLst/>
          </a:prstGeom>
          <a:solidFill>
            <a:srgbClr val="23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LangGraph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41448"/>
            <a:ext cx="30449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Workflow:</a:t>
            </a:r>
          </a:p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state, nodes, edges, branching, loops.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74519"/>
            <a:ext cx="3429000" cy="233172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874519"/>
            <a:ext cx="54864" cy="23317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03911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41448"/>
            <a:ext cx="30449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Use </a:t>
            </a:r>
            <a:r>
              <a:rPr sz="1400" dirty="0" err="1"/>
              <a:t>LangChain</a:t>
            </a:r>
            <a:r>
              <a:rPr sz="1400" dirty="0"/>
              <a:t> components inside controlled workflows.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>
                <a:solidFill>
                  <a:srgbClr val="646C76"/>
                </a:solidFill>
                <a:latin typeface="Inter"/>
              </a:defRPr>
            </a:pPr>
            <a:r>
              <a:t>A simple sequence may need neither framework; use what the workflow requires.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2A5BD7"/>
                </a:solidFill>
                <a:latin typeface="Inter"/>
              </a:defRPr>
            </a:pPr>
            <a:r>
              <a:t>07 · LANGSMITH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000" b="1">
                <a:solidFill>
                  <a:srgbClr val="191C21"/>
                </a:solidFill>
                <a:latin typeface="Space Grotesk"/>
              </a:defRPr>
            </a:pPr>
            <a:r>
              <a:t>What is LangSmith?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0700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Trace, debug, evaluate, and monitor LLM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646C76"/>
                </a:solidFill>
                <a:latin typeface="Inter"/>
              </a:defRPr>
            </a:pPr>
            <a:r>
              <a:rPr dirty="0" err="1"/>
              <a:t>AIYatra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29000" cy="224028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4864" cy="2240280"/>
          </a:xfrm>
          <a:prstGeom prst="rect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8483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Inspect inputs, outputs, calls, and latency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29000" cy="224028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54864" cy="2240280"/>
          </a:xfrm>
          <a:prstGeom prst="rect">
            <a:avLst/>
          </a:prstGeom>
          <a:solidFill>
            <a:srgbClr val="23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08483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Debug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87168"/>
            <a:ext cx="30449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Investigate errors and unexpected behavior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20240"/>
            <a:ext cx="3429000" cy="224028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54864" cy="2240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08483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87168"/>
            <a:ext cx="30449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Measure outputs against examples or criteria</a:t>
            </a:r>
            <a:r>
              <a:rPr dirty="0"/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10515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2A5BD7"/>
                </a:solidFill>
                <a:latin typeface="Space Grotesk"/>
              </a:defRPr>
            </a:pPr>
            <a:r>
              <a:rPr dirty="0"/>
              <a:t>Understand what happened before deciding how to improve.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2A5BD7"/>
                </a:solidFill>
                <a:latin typeface="Inter"/>
              </a:defRPr>
            </a:pPr>
            <a:r>
              <a:t>08 ·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000" b="1">
                <a:solidFill>
                  <a:srgbClr val="191C21"/>
                </a:solidFill>
                <a:latin typeface="Space Grotesk"/>
              </a:defRPr>
            </a:pPr>
            <a:r>
              <a:t>How all three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0700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One application, three connected responsibilities.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646C76"/>
                </a:solidFill>
                <a:latin typeface="Inter"/>
              </a:defRPr>
            </a:pPr>
            <a:r>
              <a:rPr dirty="0" err="1"/>
              <a:t>AIYatra</a:t>
            </a:r>
            <a:r>
              <a:rPr dirty="0"/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29000" cy="224028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4864" cy="2240280"/>
          </a:xfrm>
          <a:prstGeom prst="rect">
            <a:avLst/>
          </a:prstGeom>
          <a:solidFill>
            <a:srgbClr val="2A5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8483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LangChain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Build application components.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29000" cy="224028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54864" cy="2240280"/>
          </a:xfrm>
          <a:prstGeom prst="rect">
            <a:avLst/>
          </a:prstGeom>
          <a:solidFill>
            <a:srgbClr val="23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08483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LangGraph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87168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Orchestrate workflow execution.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20240"/>
            <a:ext cx="3429000" cy="224028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54864" cy="2240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08483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LangSmith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87168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Trace and evaluate application runs.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191C21"/>
                </a:solidFill>
                <a:latin typeface="Space Grotesk"/>
              </a:defRPr>
            </a:pPr>
            <a:r>
              <a:t>LangChain connects. LangGraph orchestrates. LangSmith helps us improve.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2A5BD7"/>
                </a:solidFill>
                <a:latin typeface="Inter"/>
              </a:defRPr>
            </a:pPr>
            <a: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789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800" b="1">
                <a:solidFill>
                  <a:srgbClr val="191C21"/>
                </a:solidFill>
                <a:latin typeface="Space Grotesk"/>
              </a:defRPr>
            </a:pPr>
            <a:r>
              <a:t>Build. Control.</a:t>
            </a:r>
          </a:p>
          <a:p>
            <a:pPr algn="l">
              <a:defRPr sz="3800" b="1">
                <a:solidFill>
                  <a:srgbClr val="191C21"/>
                </a:solidFill>
                <a:latin typeface="Space Grotesk"/>
              </a:defRPr>
            </a:pPr>
            <a:r>
              <a:t>Understand. Improve.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926080"/>
            <a:ext cx="3429000" cy="132588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191C21"/>
                </a:solidFill>
                <a:latin typeface="Space Grotesk"/>
              </a:defRPr>
            </a:pPr>
            <a:r>
              <a:t>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11880"/>
            <a:ext cx="31546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926080"/>
            <a:ext cx="3429000" cy="132588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315468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191C21"/>
                </a:solidFill>
                <a:latin typeface="Space Grotesk"/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3611880"/>
            <a:ext cx="31546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Orchestrate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2926080"/>
            <a:ext cx="3429000" cy="1325880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19" y="315468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191C21"/>
                </a:solidFill>
                <a:latin typeface="Space Grotesk"/>
              </a:defRPr>
            </a:pPr>
            <a:r>
              <a:t>LangSmith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3611880"/>
            <a:ext cx="31546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0">
                <a:solidFill>
                  <a:srgbClr val="646C76"/>
                </a:solidFill>
                <a:latin typeface="Inter"/>
              </a:defRPr>
            </a:pPr>
            <a:r>
              <a:rPr sz="1400" dirty="0"/>
              <a:t>Observe + 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1078992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>
                <a:solidFill>
                  <a:srgbClr val="191C21"/>
                </a:solidFill>
                <a:latin typeface="Space Grotesk"/>
              </a:defRPr>
            </a:pPr>
            <a:r>
              <a:rPr dirty="0"/>
              <a:t>Thank you  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>
                <a:solidFill>
                  <a:srgbClr val="646C76"/>
                </a:solidFill>
                <a:latin typeface="Inter"/>
              </a:defRPr>
            </a:pPr>
            <a:r>
              <a:rPr dirty="0" err="1"/>
              <a:t>AIYatra</a:t>
            </a:r>
            <a:r>
              <a:rPr dirty="0"/>
              <a:t>  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4A14CA7F-B089-5BFF-9CB2-A61396ABAAB8}"/>
              </a:ext>
            </a:extLst>
          </p:cNvPr>
          <p:cNvSpPr txBox="1"/>
          <p:nvPr/>
        </p:nvSpPr>
        <p:spPr>
          <a:xfrm>
            <a:off x="594360" y="5012810"/>
            <a:ext cx="107899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A5BD7"/>
                </a:solidFill>
                <a:latin typeface="Inter"/>
              </a:defRPr>
            </a:pPr>
            <a:r>
              <a:rPr sz="2000" dirty="0" err="1"/>
              <a:t>LangChain</a:t>
            </a:r>
            <a:r>
              <a:rPr sz="2000" dirty="0"/>
              <a:t> connects. </a:t>
            </a:r>
            <a:r>
              <a:rPr sz="2000" dirty="0" err="1"/>
              <a:t>LangGraph</a:t>
            </a:r>
            <a:r>
              <a:rPr sz="2000" dirty="0"/>
              <a:t> orchestrates. </a:t>
            </a:r>
            <a:r>
              <a:rPr sz="2000" dirty="0" err="1"/>
              <a:t>LangSmith</a:t>
            </a:r>
            <a:r>
              <a:rPr sz="2000" dirty="0"/>
              <a:t> helps us improve.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Yatra">
  <a:themeElements>
    <a:clrScheme name="AIYatra">
      <a:dk1>
        <a:srgbClr val="0D193B"/>
      </a:dk1>
      <a:lt1>
        <a:srgbClr val="FFFFFF"/>
      </a:lt1>
      <a:dk2>
        <a:srgbClr val="1E3A8A"/>
      </a:dk2>
      <a:lt2>
        <a:srgbClr val="F5F9FF"/>
      </a:lt2>
      <a:accent1>
        <a:srgbClr val="2563EB"/>
      </a:accent1>
      <a:accent2>
        <a:srgbClr val="38BDF8"/>
      </a:accent2>
      <a:accent3>
        <a:srgbClr val="1E3A8A"/>
      </a:accent3>
      <a:accent4>
        <a:srgbClr val="93C5FD"/>
      </a:accent4>
      <a:accent5>
        <a:srgbClr val="DBEAFE"/>
      </a:accent5>
      <a:accent6>
        <a:srgbClr val="4A5A80"/>
      </a:accent6>
      <a:hlink>
        <a:srgbClr val="2563EB"/>
      </a:hlink>
      <a:folHlink>
        <a:srgbClr val="1E3A8A"/>
      </a:folHlink>
    </a:clrScheme>
    <a:fontScheme name="AIYatra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1241</Words>
  <Application>Microsoft Office PowerPoint</Application>
  <PresentationFormat>Widescreen</PresentationFormat>
  <Paragraphs>271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Inter</vt:lpstr>
      <vt:lpstr>Space Grotesk</vt:lpstr>
      <vt:lpstr>AIYatra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AIYatra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AIYatra — Learn AI. Build with your people.</dc:title>
  <dc:subject>PptxGenJS Presentation</dc:subject>
  <dc:creator>AIYatra</dc:creator>
  <cp:lastModifiedBy>Vishwanath Thepakulo</cp:lastModifiedBy>
  <cp:revision>5</cp:revision>
  <dcterms:created xsi:type="dcterms:W3CDTF">2026-10-22T06:32:36Z</dcterms:created>
  <dcterms:modified xsi:type="dcterms:W3CDTF">2026-10-28T21:31:07Z</dcterms:modified>
</cp:coreProperties>
</file>