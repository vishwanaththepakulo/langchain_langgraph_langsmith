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78" r:id="rId3"/>
    <p:sldId id="279" r:id="rId4"/>
    <p:sldId id="270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71" r:id="rId14"/>
    <p:sldId id="272" r:id="rId15"/>
    <p:sldId id="273" r:id="rId16"/>
    <p:sldId id="275" r:id="rId17"/>
    <p:sldId id="276" r:id="rId18"/>
    <p:sldId id="277" r:id="rId19"/>
    <p:sldId id="265" r:id="rId20"/>
    <p:sldId id="267" r:id="rId21"/>
    <p:sldId id="268" r:id="rId22"/>
    <p:sldId id="269" r:id="rId2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Welcome" id="{F2E855EF-EF25-80BC-4178-44CABAB1E9E2}">
          <p14:sldIdLst>
            <p14:sldId id="256"/>
            <p14:sldId id="278"/>
            <p14:sldId id="279"/>
          </p14:sldIdLst>
        </p14:section>
        <p14:section name="The AIYatra Blog" id="{7DE4F940-801A-90F2-E343-AC99AF9E12AB}">
          <p14:sldIdLst>
            <p14:sldId id="270"/>
            <p14:sldId id="257"/>
            <p14:sldId id="258"/>
          </p14:sldIdLst>
        </p14:section>
        <p14:section name="01 · AIYatra Meetups" id="{5C860D2D-ADB2-7E26-2CDE-9CA1DB39C078}">
          <p14:sldIdLst>
            <p14:sldId id="259"/>
            <p14:sldId id="260"/>
            <p14:sldId id="261"/>
            <p14:sldId id="262"/>
          </p14:sldIdLst>
        </p14:section>
        <p14:section name="02 · Student Ambassador Program" id="{B460B2AD-F88C-A8F0-D35D-84702DE6C578}">
          <p14:sldIdLst>
            <p14:sldId id="263"/>
            <p14:sldId id="264"/>
            <p14:sldId id="271"/>
          </p14:sldIdLst>
        </p14:section>
        <p14:section name="Community &amp; Contact" id="{740A2995-E8FF-C506-65D4-BC3EA13861EC}">
          <p14:sldIdLst>
            <p14:sldId id="272"/>
            <p14:sldId id="273"/>
            <p14:sldId id="275"/>
            <p14:sldId id="276"/>
            <p14:sldId id="277"/>
            <p14:sldId id="265"/>
          </p14:sldIdLst>
        </p14:section>
        <p14:section name="03 · AIYatra Research Labs" id="{DD448BD2-C175-DAC7-1697-87F5C8EB52B7}">
          <p14:sldIdLst>
            <p14:sldId id="267"/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217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446761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AIYatra is an open-source AI community from Hyderabad. The promise is on the slide: learn AI, and build it with your people. Three ways in: Saturday meetups, the Student Ambassador Program, and AIYatra Research Labs. Everything is free, and everything is at aiyatra.io.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moinuddin-Documents-AIYatra-aiyatra-io-website-AIYatra-IO/2308713a-0ea2-48bd-bdbe-fd8ee0307722/scratchpad/media/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82512"/>
            <a:ext cx="274320" cy="25054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635508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chemeClr val="accent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AIYatra  ·  aiyatra.io</a:t>
            </a:r>
            <a:endParaRPr lang="en-US" sz="1000" dirty="0"/>
          </a:p>
        </p:txBody>
      </p:sp>
      <p:sp>
        <p:nvSpPr>
          <p:cNvPr id="4" name="Text 1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100" b="1" kern="0" spc="300" dirty="0">
                <a:solidFill>
                  <a:schemeClr val="accent1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>
              <a:buNone/>
            </a:pPr>
            <a:endParaRPr lang="en-US" sz="1100" dirty="0"/>
          </a:p>
        </p:txBody>
      </p:sp>
      <p:sp>
        <p:nvSpPr>
          <p:cNvPr id="5" name="Text 1"/>
          <p:cNvSpPr>
            <a:spLocks noGrp="1"/>
          </p:cNvSpPr>
          <p:nvPr>
            <p:ph type="title" idx="103" hasCustomPrompt="1"/>
          </p:nvPr>
        </p:nvSpPr>
        <p:spPr>
          <a:xfrm>
            <a:off x="548640" y="749808"/>
            <a:ext cx="11064240" cy="10515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lnSpc>
                <a:spcPct val="95000"/>
              </a:lnSpc>
              <a:buNone/>
              <a:defRPr lang="en-US" sz="3400" b="1" dirty="0">
                <a:solidFill>
                  <a:schemeClr val="tx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defRPr>
            </a:lvl1pPr>
          </a:lstStyle>
          <a:p>
            <a:pPr marL="0" indent="0" algn="l">
              <a:lnSpc>
                <a:spcPct val="95000"/>
              </a:lnSpc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67512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6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1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Sof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moinuddin-Documents-AIYatra-aiyatra-io-website-AIYatra-IO/2308713a-0ea2-48bd-bdbe-fd8ee0307722/scratchpad/media/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82512"/>
            <a:ext cx="274320" cy="25054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635508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chemeClr val="accent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AIYatra  ·  aiyatra.io</a:t>
            </a:r>
            <a:endParaRPr lang="en-US" sz="1000" dirty="0"/>
          </a:p>
        </p:txBody>
      </p:sp>
      <p:sp>
        <p:nvSpPr>
          <p:cNvPr id="4" name="Text 1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100" b="1" kern="0" spc="300" dirty="0">
                <a:solidFill>
                  <a:schemeClr val="accent1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>
              <a:buNone/>
            </a:pPr>
            <a:endParaRPr lang="en-US" sz="1100" dirty="0"/>
          </a:p>
        </p:txBody>
      </p:sp>
      <p:sp>
        <p:nvSpPr>
          <p:cNvPr id="5" name="Text 1"/>
          <p:cNvSpPr>
            <a:spLocks noGrp="1"/>
          </p:cNvSpPr>
          <p:nvPr>
            <p:ph type="title" idx="103" hasCustomPrompt="1"/>
          </p:nvPr>
        </p:nvSpPr>
        <p:spPr>
          <a:xfrm>
            <a:off x="548640" y="749808"/>
            <a:ext cx="11064240" cy="10515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lnSpc>
                <a:spcPct val="95000"/>
              </a:lnSpc>
              <a:buNone/>
              <a:defRPr lang="en-US" sz="3400" b="1" dirty="0">
                <a:solidFill>
                  <a:schemeClr val="tx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defRPr>
            </a:lvl1pPr>
          </a:lstStyle>
          <a:p>
            <a:pPr marL="0" indent="0" algn="l">
              <a:lnSpc>
                <a:spcPct val="95000"/>
              </a:lnSpc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67512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6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1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moinuddin-Documents-AIYatra-aiyatra-io-website-AIYatra-IO/2308713a-0ea2-48bd-bdbe-fd8ee0307722/scratchpad/media/mar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82512"/>
            <a:ext cx="274320" cy="25054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635508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AIYatra  ·  aiyatra.io</a:t>
            </a:r>
            <a:endParaRPr lang="en-US" sz="1000" dirty="0"/>
          </a:p>
        </p:txBody>
      </p:sp>
      <p:sp>
        <p:nvSpPr>
          <p:cNvPr id="4" name="Text 1"/>
          <p:cNvSpPr>
            <a:spLocks noGrp="1"/>
          </p:cNvSpPr>
          <p:nvPr>
            <p:ph type="body" idx="102" hasCustomPrompt="1"/>
          </p:nvPr>
        </p:nvSpPr>
        <p:spPr>
          <a:xfrm>
            <a:off x="731520" y="2331720"/>
            <a:ext cx="6400800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200" b="1" kern="0" spc="400" dirty="0">
                <a:solidFill>
                  <a:schemeClr val="accent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>
              <a:buNone/>
            </a:pPr>
            <a:endParaRPr lang="en-US" sz="1200" dirty="0"/>
          </a:p>
        </p:txBody>
      </p:sp>
      <p:sp>
        <p:nvSpPr>
          <p:cNvPr id="5" name="Text 1"/>
          <p:cNvSpPr>
            <a:spLocks noGrp="1"/>
          </p:cNvSpPr>
          <p:nvPr>
            <p:ph type="title" idx="103" hasCustomPrompt="1"/>
          </p:nvPr>
        </p:nvSpPr>
        <p:spPr>
          <a:xfrm>
            <a:off x="731520" y="2697480"/>
            <a:ext cx="640080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lnSpc>
                <a:spcPct val="90000"/>
              </a:lnSpc>
              <a:buNone/>
              <a:defRPr lang="en-US" sz="4600" b="1" dirty="0">
                <a:solidFill>
                  <a:schemeClr val="bg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defRPr>
            </a:lvl1pPr>
          </a:lstStyle>
          <a:p>
            <a:pPr marL="0" indent="0" algn="l">
              <a:lnSpc>
                <a:spcPct val="90000"/>
              </a:lnSpc>
              <a:buNone/>
            </a:pPr>
            <a:endParaRPr lang="en-US" sz="4600" dirty="0"/>
          </a:p>
        </p:txBody>
      </p:sp>
      <p:sp>
        <p:nvSpPr>
          <p:cNvPr id="6" name="Text 1"/>
          <p:cNvSpPr>
            <a:spLocks noGrp="1"/>
          </p:cNvSpPr>
          <p:nvPr>
            <p:ph type="body" idx="104" hasCustomPrompt="1"/>
          </p:nvPr>
        </p:nvSpPr>
        <p:spPr>
          <a:xfrm>
            <a:off x="731520" y="4343400"/>
            <a:ext cx="60350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700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>
              <a:buNone/>
            </a:pP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67512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bg1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1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67512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6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1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hyperlink" Target="https://aiyatra.io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go tile"/>
          <p:cNvSpPr/>
          <p:nvPr/>
        </p:nvSpPr>
        <p:spPr>
          <a:xfrm>
            <a:off x="548640" y="457200"/>
            <a:ext cx="786384" cy="786384"/>
          </a:xfrm>
          <a:prstGeom prst="roundRect">
            <a:avLst>
              <a:gd name="adj" fmla="val 23256"/>
            </a:avLst>
          </a:prstGeom>
          <a:solidFill>
            <a:schemeClr val="bg1"/>
          </a:solidFill>
          <a:ln w="9525">
            <a:solidFill>
              <a:schemeClr val="accent1">
                <a:alpha val="15000"/>
              </a:schemeClr>
            </a:solidFill>
            <a:prstDash val="solid"/>
          </a:ln>
          <a:effectLst>
            <a:outerShdw blurRad="228600" dist="76200" dir="5400000" algn="bl" rotWithShape="0">
              <a:srgbClr val="2563EB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" name="AIYatra logo" descr="/private/tmp/claude-501/-Users-moinuddin-Documents-AIYatra-aiyatra-io-website-AIYatra-IO/2308713a-0ea2-48bd-bdbe-fd8ee0307722/scratchpad/media/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" y="566928"/>
            <a:ext cx="585216" cy="5349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481328" y="475488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chemeClr val="tx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AI Yatra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1490472" y="9144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chemeClr val="accent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OPEN-SOURCE AI COMMUNITY</a:t>
            </a:r>
            <a:endParaRPr lang="en-US" sz="1000" dirty="0"/>
          </a:p>
        </p:txBody>
      </p:sp>
      <p:sp>
        <p:nvSpPr>
          <p:cNvPr id="6" name="Text 3">
            <a:hlinkClick r:id="rId4"/>
          </p:cNvPr>
          <p:cNvSpPr txBox="1"/>
          <p:nvPr/>
        </p:nvSpPr>
        <p:spPr>
          <a:xfrm>
            <a:off x="9326880" y="640080"/>
            <a:ext cx="2313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500" b="1" u="sng" dirty="0">
                <a:solidFill>
                  <a:schemeClr val="accent1"/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aiyatra.io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66928" y="1783080"/>
            <a:ext cx="109728" cy="10972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5"/>
          <p:cNvSpPr txBox="1"/>
          <p:nvPr/>
        </p:nvSpPr>
        <p:spPr>
          <a:xfrm>
            <a:off x="804672" y="170078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OPEN AI COMMUNITY</a:t>
            </a:r>
            <a:r>
              <a:rPr lang="en-US" sz="1100" b="1" kern="0" spc="3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/   </a:t>
            </a:r>
            <a:r>
              <a:rPr lang="en-US" sz="1100" b="1" kern="0" spc="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HYDERABAD &amp; BEYOND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2011680"/>
            <a:ext cx="630936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86000"/>
              </a:lnSpc>
              <a:buNone/>
            </a:pPr>
            <a:r>
              <a:rPr lang="en-US" sz="6400" b="1" kern="0" spc="-150" dirty="0">
                <a:solidFill>
                  <a:schemeClr val="tx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Learn AI.</a:t>
            </a:r>
            <a:endParaRPr lang="en-US" sz="640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6400" b="1" kern="0" spc="-150" dirty="0">
                <a:solidFill>
                  <a:schemeClr val="tx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Build with</a:t>
            </a:r>
            <a:endParaRPr lang="en-US" sz="640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6400" b="1" kern="0" spc="-150" dirty="0">
                <a:solidFill>
                  <a:schemeClr val="accent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your people.</a:t>
            </a:r>
            <a:endParaRPr lang="en-US" sz="6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828032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450" dirty="0">
                <a:solidFill>
                  <a:schemeClr val="accent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place for students, builders and curious minds. Come for the meetups. Grow through campus chapters. Turn research into something real, together.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548640" y="5779008"/>
            <a:ext cx="2302459" cy="530352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/>
          <a:effectLst>
            <a:outerShdw blurRad="177800" dist="50800" dir="5400000" algn="bl" rotWithShape="0">
              <a:srgbClr val="2563EB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Shape 9"/>
          <p:cNvSpPr/>
          <p:nvPr/>
        </p:nvSpPr>
        <p:spPr>
          <a:xfrm>
            <a:off x="658368" y="5888736"/>
            <a:ext cx="329184" cy="310896"/>
          </a:xfrm>
          <a:prstGeom prst="roundRect">
            <a:avLst>
              <a:gd name="adj" fmla="val 26471"/>
            </a:avLst>
          </a:prstGeom>
          <a:solidFill>
            <a:schemeClr val="accent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0"/>
          <p:cNvSpPr txBox="1"/>
          <p:nvPr/>
        </p:nvSpPr>
        <p:spPr>
          <a:xfrm>
            <a:off x="658368" y="5888736"/>
            <a:ext cx="329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bg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1097280" y="5779008"/>
            <a:ext cx="166237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Saturday Meetups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3033979" y="5779008"/>
            <a:ext cx="2571293" cy="530352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/>
          <a:effectLst>
            <a:outerShdw blurRad="177800" dist="50800" dir="5400000" algn="bl" rotWithShape="0">
              <a:srgbClr val="2563EB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3"/>
          <p:cNvSpPr/>
          <p:nvPr/>
        </p:nvSpPr>
        <p:spPr>
          <a:xfrm>
            <a:off x="3143707" y="5888736"/>
            <a:ext cx="329184" cy="310896"/>
          </a:xfrm>
          <a:prstGeom prst="roundRect">
            <a:avLst>
              <a:gd name="adj" fmla="val 26471"/>
            </a:avLst>
          </a:prstGeom>
          <a:solidFill>
            <a:schemeClr val="accent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4"/>
          <p:cNvSpPr txBox="1"/>
          <p:nvPr/>
        </p:nvSpPr>
        <p:spPr>
          <a:xfrm>
            <a:off x="3143707" y="5888736"/>
            <a:ext cx="329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bg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02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3582619" y="5779008"/>
            <a:ext cx="1931213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 Ambassadors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788152" y="5779008"/>
            <a:ext cx="2033626" cy="530352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/>
          <a:effectLst>
            <a:outerShdw blurRad="177800" dist="50800" dir="5400000" algn="bl" rotWithShape="0">
              <a:srgbClr val="2563EB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Shape 17"/>
          <p:cNvSpPr/>
          <p:nvPr/>
        </p:nvSpPr>
        <p:spPr>
          <a:xfrm>
            <a:off x="5897880" y="5888736"/>
            <a:ext cx="329184" cy="310896"/>
          </a:xfrm>
          <a:prstGeom prst="roundRect">
            <a:avLst>
              <a:gd name="adj" fmla="val 26471"/>
            </a:avLst>
          </a:prstGeom>
          <a:solidFill>
            <a:schemeClr val="accent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8"/>
          <p:cNvSpPr txBox="1"/>
          <p:nvPr/>
        </p:nvSpPr>
        <p:spPr>
          <a:xfrm>
            <a:off x="5897880" y="5888736"/>
            <a:ext cx="329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bg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03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336792" y="5779008"/>
            <a:ext cx="139354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Research Labs</a:t>
            </a:r>
            <a:endParaRPr lang="en-US" sz="1300" dirty="0"/>
          </a:p>
        </p:txBody>
      </p:sp>
      <p:pic>
        <p:nvPicPr>
          <p:cNvPr id="23" name="Saturday meetup illustration" descr="/private/tmp/claude-501/-Users-moinuddin-Documents-AIYatra-aiyatra-io-website-AIYatra-IO/2308713a-0ea2-48bd-bdbe-fd8ee0307722/scratchpad/media/scene_alph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2280" y="1188720"/>
            <a:ext cx="4892040" cy="4581144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 rot="-420000">
            <a:off x="6446520" y="120700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3B5A9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Big ideas start</a:t>
            </a:r>
            <a:endParaRPr lang="en-US" sz="1700" dirty="0"/>
          </a:p>
          <a:p>
            <a:pPr marL="0" indent="0">
              <a:buNone/>
            </a:pPr>
            <a:r>
              <a:rPr lang="en-US" sz="1700" b="1" dirty="0">
                <a:solidFill>
                  <a:srgbClr val="3B5A9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with a hello.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9189720" y="5120640"/>
            <a:ext cx="2514600" cy="512064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/>
          <a:effectLst>
            <a:outerShdw blurRad="203200" dist="76200" dir="5400000" algn="bl" rotWithShape="0">
              <a:srgbClr val="2563EB">
                <a:alpha val="2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2"/>
          <p:cNvSpPr txBox="1"/>
          <p:nvPr/>
        </p:nvSpPr>
        <p:spPr>
          <a:xfrm>
            <a:off x="9189720" y="5120640"/>
            <a:ext cx="2514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tx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✳  A seat for your curiosity</a:t>
            </a:r>
            <a:endParaRPr lang="en-US" sz="1300" dirty="0"/>
          </a:p>
        </p:txBody>
      </p:sp>
      <p:sp>
        <p:nvSpPr>
          <p:cNvPr id="27" name="Text 23"/>
          <p:cNvSpPr txBox="1"/>
          <p:nvPr/>
        </p:nvSpPr>
        <p:spPr>
          <a:xfrm>
            <a:off x="7086600" y="589788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b="1" kern="0" spc="400" dirty="0">
                <a:solidFill>
                  <a:schemeClr val="accent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MEET. BUILD. BELONG.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713232" y="841248"/>
            <a:ext cx="7772400" cy="64008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3400" b="1">
                <a:solidFill>
                  <a:srgbClr val="22282E"/>
                </a:solidFill>
                <a:latin typeface="Space Grotesk"/>
              </a:defRPr>
            </a:pPr>
            <a: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249424"/>
            <a:ext cx="54864" cy="438912"/>
          </a:xfrm>
          <a:prstGeom prst="rect">
            <a:avLst/>
          </a:prstGeom>
          <a:solidFill>
            <a:srgbClr val="3770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87552" y="2212848"/>
            <a:ext cx="530352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100" b="1">
                <a:solidFill>
                  <a:srgbClr val="3770BE"/>
                </a:solidFill>
                <a:latin typeface="Inter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27632" y="2194560"/>
            <a:ext cx="2834640" cy="310896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700" b="1">
                <a:solidFill>
                  <a:srgbClr val="22282E"/>
                </a:solidFill>
                <a:latin typeface="Space Grotesk"/>
              </a:defRPr>
            </a:pPr>
            <a:r>
              <a:t>Big picture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2221991"/>
            <a:ext cx="6583680" cy="310896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200" b="0">
                <a:solidFill>
                  <a:srgbClr val="656E76"/>
                </a:solidFill>
                <a:latin typeface="Inter"/>
              </a:defRPr>
            </a:pPr>
            <a:r>
              <a:rPr dirty="0"/>
              <a:t>Why frameworks matter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962656"/>
            <a:ext cx="54864" cy="438912"/>
          </a:xfrm>
          <a:prstGeom prst="rect">
            <a:avLst/>
          </a:prstGeom>
          <a:solidFill>
            <a:srgbClr val="3C96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87552" y="2926080"/>
            <a:ext cx="530352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100" b="1">
                <a:solidFill>
                  <a:srgbClr val="3C9678"/>
                </a:solidFill>
                <a:latin typeface="Inter"/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7632" y="2907792"/>
            <a:ext cx="2834640" cy="310896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700" b="1">
                <a:solidFill>
                  <a:srgbClr val="22282E"/>
                </a:solidFill>
                <a:latin typeface="Space Grotesk"/>
              </a:defRPr>
            </a:pPr>
            <a:r>
              <a:t>LangChain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2935224"/>
            <a:ext cx="6583680" cy="310896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200" b="0">
                <a:solidFill>
                  <a:srgbClr val="656E76"/>
                </a:solidFill>
                <a:latin typeface="Inter"/>
              </a:defRPr>
            </a:pPr>
            <a:r>
              <a:rPr dirty="0"/>
              <a:t>Models, prompts, components, and a RAG example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675887"/>
            <a:ext cx="54864" cy="438912"/>
          </a:xfrm>
          <a:prstGeom prst="rect">
            <a:avLst/>
          </a:prstGeom>
          <a:solidFill>
            <a:srgbClr val="E09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87552" y="3639312"/>
            <a:ext cx="530352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100" b="1">
                <a:solidFill>
                  <a:srgbClr val="E09141"/>
                </a:solidFill>
                <a:latin typeface="Inter"/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27632" y="3621024"/>
            <a:ext cx="2834640" cy="310896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700" b="1">
                <a:solidFill>
                  <a:srgbClr val="22282E"/>
                </a:solidFill>
                <a:latin typeface="Space Grotesk"/>
              </a:defRPr>
            </a:pPr>
            <a:r>
              <a:t>LangGraph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3648456"/>
            <a:ext cx="6583680" cy="310896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200" b="0">
                <a:solidFill>
                  <a:srgbClr val="656E76"/>
                </a:solidFill>
                <a:latin typeface="Inter"/>
              </a:defRPr>
            </a:pPr>
            <a:r>
              <a:rPr dirty="0"/>
              <a:t>State, nodes, edges, routing, agents, and reliability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389120"/>
            <a:ext cx="54864" cy="438912"/>
          </a:xfrm>
          <a:prstGeom prst="rect">
            <a:avLst/>
          </a:prstGeom>
          <a:solidFill>
            <a:srgbClr val="3770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87552" y="4352544"/>
            <a:ext cx="530352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100" b="1">
                <a:solidFill>
                  <a:srgbClr val="3770BE"/>
                </a:solidFill>
                <a:latin typeface="Inter"/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632" y="4334256"/>
            <a:ext cx="2834640" cy="310896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700" b="1">
                <a:solidFill>
                  <a:srgbClr val="22282E"/>
                </a:solidFill>
                <a:latin typeface="Space Grotesk"/>
              </a:defRPr>
            </a:pPr>
            <a:r>
              <a:t>LangSmith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3400" y="4361688"/>
            <a:ext cx="6583680" cy="310896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200" b="0">
                <a:solidFill>
                  <a:srgbClr val="656E76"/>
                </a:solidFill>
                <a:latin typeface="Inter"/>
              </a:defRPr>
            </a:pPr>
            <a:r>
              <a:rPr dirty="0"/>
              <a:t>Trace, debug, and evaluate application runs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5102352"/>
            <a:ext cx="54864" cy="438912"/>
          </a:xfrm>
          <a:prstGeom prst="rect">
            <a:avLst/>
          </a:prstGeom>
          <a:solidFill>
            <a:srgbClr val="3C96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87552" y="5065776"/>
            <a:ext cx="530352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100" b="1">
                <a:solidFill>
                  <a:srgbClr val="3C9678"/>
                </a:solidFill>
                <a:latin typeface="Inter"/>
              </a:defRPr>
            </a:pPr>
            <a: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27632" y="5047488"/>
            <a:ext cx="2834640" cy="310896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700" b="1">
                <a:solidFill>
                  <a:srgbClr val="22282E"/>
                </a:solidFill>
                <a:latin typeface="Space Grotesk"/>
              </a:defRPr>
            </a:pPr>
            <a:r>
              <a:t>Takeaway + Q&amp;A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43400" y="5074920"/>
            <a:ext cx="6583680" cy="310896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200" b="0">
                <a:solidFill>
                  <a:srgbClr val="656E76"/>
                </a:solidFill>
                <a:latin typeface="Inter"/>
              </a:defRPr>
            </a:pPr>
            <a:r>
              <a:t>Choose the right tools and questions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6473952"/>
            <a:ext cx="6400800" cy="21544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800" b="1">
                <a:solidFill>
                  <a:srgbClr val="656E76"/>
                </a:solidFill>
                <a:latin typeface="Inter"/>
              </a:defRPr>
            </a:pPr>
            <a:r>
              <a:rPr dirty="0"/>
              <a:t>AIYATRA 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27080" y="6455664"/>
            <a:ext cx="457200" cy="18288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900" b="1">
                <a:solidFill>
                  <a:srgbClr val="656E76"/>
                </a:solidFill>
                <a:latin typeface="Inter"/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4572000" cy="2743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000" b="1">
                <a:solidFill>
                  <a:srgbClr val="656E76"/>
                </a:solidFill>
                <a:latin typeface="Inter"/>
              </a:defRPr>
            </a:pPr>
            <a:r>
              <a:t>03 · ECOSYSTEM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804672"/>
            <a:ext cx="9144000" cy="6400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3100" b="1">
                <a:solidFill>
                  <a:srgbClr val="22282E"/>
                </a:solidFill>
                <a:latin typeface="Space Grotesk"/>
              </a:defRPr>
            </a:pPr>
            <a:r>
              <a:t>The LangChain Ecosystem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481328"/>
            <a:ext cx="10058400" cy="347472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656E76"/>
                </a:solidFill>
                <a:latin typeface="Inter"/>
              </a:defRPr>
            </a:pPr>
            <a:r>
              <a:t>Tools to build, orchestrate, and improve AI applications.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9808" y="2148840"/>
            <a:ext cx="34290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49808" y="2148840"/>
            <a:ext cx="64008" cy="2240280"/>
          </a:xfrm>
          <a:prstGeom prst="rect">
            <a:avLst/>
          </a:prstGeom>
          <a:solidFill>
            <a:srgbClr val="3770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78407" y="2404872"/>
            <a:ext cx="2971800" cy="347472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700" b="1">
                <a:solidFill>
                  <a:srgbClr val="22282E"/>
                </a:solidFill>
                <a:latin typeface="Space Grotesk"/>
              </a:defRPr>
            </a:pPr>
            <a:r>
              <a:rPr dirty="0"/>
              <a:t>LANGCHAIN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7" y="2898648"/>
            <a:ext cx="2971800" cy="28315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000" b="1">
                <a:solidFill>
                  <a:srgbClr val="3770BE"/>
                </a:solidFill>
                <a:latin typeface="Inter"/>
              </a:defRPr>
            </a:pPr>
            <a:r>
              <a:rPr sz="1600" dirty="0"/>
              <a:t>BUILD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7" y="3319272"/>
            <a:ext cx="2971800" cy="4678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300" b="0">
                <a:solidFill>
                  <a:srgbClr val="656E76"/>
                </a:solidFill>
                <a:latin typeface="Inter"/>
              </a:defRPr>
            </a:pPr>
            <a:r>
              <a:rPr sz="1400" dirty="0"/>
              <a:t>Models, prompts, retrievers,</a:t>
            </a:r>
            <a:endParaRPr lang="en-IN" sz="1400" dirty="0"/>
          </a:p>
          <a:p>
            <a:pPr>
              <a:defRPr sz="1300" b="0">
                <a:solidFill>
                  <a:srgbClr val="656E76"/>
                </a:solidFill>
                <a:latin typeface="Inter"/>
              </a:defRPr>
            </a:pPr>
            <a:r>
              <a:rPr sz="1400" dirty="0"/>
              <a:t>and tools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2148840"/>
            <a:ext cx="34290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70832" y="2148840"/>
            <a:ext cx="64008" cy="2240280"/>
          </a:xfrm>
          <a:prstGeom prst="rect">
            <a:avLst/>
          </a:prstGeom>
          <a:solidFill>
            <a:srgbClr val="3C96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99432" y="2404872"/>
            <a:ext cx="2971800" cy="347472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700" b="1">
                <a:solidFill>
                  <a:srgbClr val="22282E"/>
                </a:solidFill>
                <a:latin typeface="Space Grotesk"/>
              </a:defRPr>
            </a:pPr>
            <a:r>
              <a:rPr dirty="0"/>
              <a:t>LANGGRAPH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898648"/>
            <a:ext cx="2971800" cy="28315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000" b="1">
                <a:solidFill>
                  <a:srgbClr val="3C9678"/>
                </a:solidFill>
                <a:latin typeface="Inter"/>
              </a:defRPr>
            </a:pPr>
            <a:r>
              <a:rPr sz="1600" dirty="0"/>
              <a:t>ORCHESTRATE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2" y="3319272"/>
            <a:ext cx="2971800" cy="4678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300" b="0">
                <a:solidFill>
                  <a:srgbClr val="656E76"/>
                </a:solidFill>
                <a:latin typeface="Inter"/>
              </a:defRPr>
            </a:pPr>
            <a:r>
              <a:rPr sz="1400" dirty="0"/>
              <a:t>Stateful workflows, routing,</a:t>
            </a:r>
            <a:endParaRPr lang="en-IN" sz="1400" dirty="0"/>
          </a:p>
          <a:p>
            <a:pPr>
              <a:defRPr sz="1300" b="0">
                <a:solidFill>
                  <a:srgbClr val="656E76"/>
                </a:solidFill>
                <a:latin typeface="Inter"/>
              </a:defRPr>
            </a:pPr>
            <a:r>
              <a:rPr sz="1400" dirty="0"/>
              <a:t>loops, and control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91856" y="2148840"/>
            <a:ext cx="34290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991856" y="2148840"/>
            <a:ext cx="64008" cy="2240280"/>
          </a:xfrm>
          <a:prstGeom prst="rect">
            <a:avLst/>
          </a:prstGeom>
          <a:solidFill>
            <a:srgbClr val="E09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0456" y="2404872"/>
            <a:ext cx="2971800" cy="347472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700" b="1">
                <a:solidFill>
                  <a:srgbClr val="22282E"/>
                </a:solidFill>
                <a:latin typeface="Space Grotesk"/>
              </a:defRPr>
            </a:pPr>
            <a:r>
              <a:rPr dirty="0"/>
              <a:t>LANGSMITH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0456" y="2898648"/>
            <a:ext cx="2971800" cy="28315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000" b="1">
                <a:solidFill>
                  <a:srgbClr val="E09141"/>
                </a:solidFill>
                <a:latin typeface="Inter"/>
              </a:defRPr>
            </a:pPr>
            <a:r>
              <a:rPr sz="1600" dirty="0"/>
              <a:t>OBSERVE + IMPROVE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0456" y="3319272"/>
            <a:ext cx="2971800" cy="4678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300" b="0">
                <a:solidFill>
                  <a:srgbClr val="656E76"/>
                </a:solidFill>
                <a:latin typeface="Inter"/>
              </a:defRPr>
            </a:pPr>
            <a:r>
              <a:rPr sz="1400" dirty="0"/>
              <a:t>Tracing, debugging, and</a:t>
            </a:r>
            <a:endParaRPr lang="en-IN" sz="1400" dirty="0"/>
          </a:p>
          <a:p>
            <a:pPr>
              <a:defRPr sz="1300" b="0">
                <a:solidFill>
                  <a:srgbClr val="656E76"/>
                </a:solidFill>
                <a:latin typeface="Inter"/>
              </a:defRPr>
            </a:pPr>
            <a:r>
              <a:rPr sz="1400" dirty="0"/>
              <a:t>evaluation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800600"/>
            <a:ext cx="10671048" cy="841248"/>
          </a:xfrm>
          <a:prstGeom prst="roundRect">
            <a:avLst/>
          </a:prstGeom>
          <a:solidFill>
            <a:srgbClr val="F2F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87552" y="4965192"/>
            <a:ext cx="1828800" cy="252377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000" b="1">
                <a:solidFill>
                  <a:srgbClr val="3770BE"/>
                </a:solidFill>
                <a:latin typeface="Inter"/>
              </a:defRPr>
            </a:pPr>
            <a:r>
              <a:rPr sz="1400" dirty="0"/>
              <a:t>INTEGRATIONS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88920" y="4948629"/>
            <a:ext cx="8229600" cy="252377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300" b="0">
                <a:solidFill>
                  <a:srgbClr val="22282E"/>
                </a:solidFill>
                <a:latin typeface="Inter"/>
              </a:defRPr>
            </a:pPr>
            <a:r>
              <a:rPr sz="1400" dirty="0"/>
              <a:t>Connect model providers, databases, APIs, and external tools.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6473952"/>
            <a:ext cx="6400800" cy="164592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800" b="1">
                <a:solidFill>
                  <a:srgbClr val="656E76"/>
                </a:solidFill>
                <a:latin typeface="Inter"/>
              </a:defRPr>
            </a:pPr>
            <a:r>
              <a:rPr dirty="0"/>
              <a:t>AIYATRA 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27080" y="6455664"/>
            <a:ext cx="457200" cy="1828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900" b="1">
                <a:solidFill>
                  <a:srgbClr val="656E76"/>
                </a:solidFill>
                <a:latin typeface="Inter"/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786384" y="987552"/>
            <a:ext cx="7772400" cy="105156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/>
            <a:r>
              <a:rPr sz="3000" b="1">
                <a:solidFill>
                  <a:srgbClr val="1D2430"/>
                </a:solidFill>
                <a:latin typeface="Space Grotesk"/>
              </a:rPr>
              <a:t>LangChain, LangGraph
&amp; LangSmith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67712"/>
            <a:ext cx="7680960" cy="38404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/>
            <a:r>
              <a:rPr sz="1700" b="0">
                <a:solidFill>
                  <a:srgbClr val="5F6975"/>
                </a:solidFill>
                <a:latin typeface="Inter"/>
              </a:rPr>
              <a:t>Build  •  Orchestrate  •  Observe and improve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246120"/>
            <a:ext cx="3429000" cy="1508760"/>
          </a:xfrm>
          <a:prstGeom prst="roundRect">
            <a:avLst/>
          </a:prstGeom>
          <a:solidFill>
            <a:srgbClr val="EBF3FC"/>
          </a:solidFill>
          <a:ln>
            <a:solidFill>
              <a:srgbClr val="E5E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31520" y="3246120"/>
            <a:ext cx="3429000" cy="64008"/>
          </a:xfrm>
          <a:prstGeom prst="rect">
            <a:avLst/>
          </a:prstGeom>
          <a:solidFill>
            <a:srgbClr val="4384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3557015"/>
            <a:ext cx="3154680" cy="38404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ctr"/>
            <a:r>
              <a:rPr sz="2100" b="1">
                <a:solidFill>
                  <a:srgbClr val="1D2430"/>
                </a:solidFill>
                <a:latin typeface="Space Grotesk"/>
              </a:rPr>
              <a:t>LangChain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078224"/>
            <a:ext cx="3154680" cy="32004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ctr"/>
            <a:r>
              <a:rPr sz="1500" b="1">
                <a:solidFill>
                  <a:srgbClr val="4384DC"/>
                </a:solidFill>
                <a:latin typeface="Inter"/>
              </a:rPr>
              <a:t>Build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3246120"/>
            <a:ext cx="3429000" cy="1508760"/>
          </a:xfrm>
          <a:prstGeom prst="roundRect">
            <a:avLst/>
          </a:prstGeom>
          <a:solidFill>
            <a:srgbClr val="E8F6EF"/>
          </a:solidFill>
          <a:ln>
            <a:solidFill>
              <a:srgbClr val="E5E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89120" y="3246120"/>
            <a:ext cx="3429000" cy="64008"/>
          </a:xfrm>
          <a:prstGeom prst="rect">
            <a:avLst/>
          </a:prstGeom>
          <a:solidFill>
            <a:srgbClr val="37A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26280" y="3557015"/>
            <a:ext cx="3154680" cy="38404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ctr"/>
            <a:r>
              <a:rPr sz="2100" b="1">
                <a:solidFill>
                  <a:srgbClr val="1D2430"/>
                </a:solidFill>
                <a:latin typeface="Space Grotesk"/>
              </a:rPr>
              <a:t>LangGraph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4078224"/>
            <a:ext cx="3154680" cy="32004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ctr"/>
            <a:r>
              <a:rPr sz="1500" b="1">
                <a:solidFill>
                  <a:srgbClr val="37A97D"/>
                </a:solidFill>
                <a:latin typeface="Inter"/>
              </a:rPr>
              <a:t>Orchestrate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3246120"/>
            <a:ext cx="3429000" cy="1508760"/>
          </a:xfrm>
          <a:prstGeom prst="roundRect">
            <a:avLst/>
          </a:prstGeom>
          <a:solidFill>
            <a:srgbClr val="FCF1E6"/>
          </a:solidFill>
          <a:ln>
            <a:solidFill>
              <a:srgbClr val="E5E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046720" y="3246120"/>
            <a:ext cx="3429000" cy="64008"/>
          </a:xfrm>
          <a:prstGeom prst="rect">
            <a:avLst/>
          </a:prstGeom>
          <a:solidFill>
            <a:srgbClr val="E891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183880" y="3557015"/>
            <a:ext cx="3154680" cy="38404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ctr"/>
            <a:r>
              <a:rPr sz="2100" b="1">
                <a:solidFill>
                  <a:srgbClr val="1D2430"/>
                </a:solidFill>
                <a:latin typeface="Space Grotesk"/>
              </a:rPr>
              <a:t>LangSmith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4078224"/>
            <a:ext cx="3154680" cy="32004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ctr"/>
            <a:r>
              <a:rPr sz="1500" b="1">
                <a:solidFill>
                  <a:srgbClr val="E89146"/>
                </a:solidFill>
                <a:latin typeface="Inter"/>
              </a:rPr>
              <a:t>Observe + improve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6473952"/>
            <a:ext cx="5029200" cy="16459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/>
            <a:r>
              <a:rPr sz="700" b="1">
                <a:solidFill>
                  <a:srgbClr val="5F6975"/>
                </a:solidFill>
                <a:latin typeface="Inter"/>
              </a:rPr>
              <a:t>LANGCHAIN + LANGGRAPH + LANGSMITH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00" b="1">
                <a:solidFill>
                  <a:srgbClr val="2A5BD7"/>
                </a:solidFill>
                <a:latin typeface="Inter"/>
              </a:defRPr>
            </a:pPr>
            <a:r>
              <a:t>01 · BIG PICTURE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3000" b="1">
                <a:solidFill>
                  <a:srgbClr val="191C21"/>
                </a:solidFill>
                <a:latin typeface="Space Grotesk"/>
              </a:defRPr>
            </a:pPr>
            <a:r>
              <a:t>Why do we need these frameworks?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207008"/>
            <a:ext cx="1097280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300" b="0">
                <a:solidFill>
                  <a:srgbClr val="646C76"/>
                </a:solidFill>
                <a:latin typeface="Inter"/>
              </a:defRPr>
            </a:pPr>
            <a:r>
              <a:rPr sz="1400" dirty="0"/>
              <a:t>An LLM call is only one part of a useful AI application.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510528"/>
            <a:ext cx="7315200" cy="1231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00" b="0">
                <a:solidFill>
                  <a:srgbClr val="646C76"/>
                </a:solidFill>
                <a:latin typeface="Inter"/>
              </a:defRPr>
            </a:pPr>
            <a:r>
              <a:rPr dirty="0" err="1"/>
              <a:t>AIYatra</a:t>
            </a:r>
            <a:r>
              <a:rPr dirty="0"/>
              <a:t> 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73952"/>
            <a:ext cx="5029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920240"/>
            <a:ext cx="3474720" cy="2057400"/>
          </a:xfrm>
          <a:prstGeom prst="round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94360" y="1920240"/>
            <a:ext cx="54864" cy="2057400"/>
          </a:xfrm>
          <a:prstGeom prst="rect">
            <a:avLst/>
          </a:prstGeom>
          <a:solidFill>
            <a:srgbClr val="2A5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95528" y="2084832"/>
            <a:ext cx="309067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600" b="1">
                <a:solidFill>
                  <a:srgbClr val="191C21"/>
                </a:solidFill>
                <a:latin typeface="Space Grotesk"/>
              </a:defRPr>
            </a:pPr>
            <a:r>
              <a:t>LLM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2487168"/>
            <a:ext cx="3090672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200" b="0">
                <a:solidFill>
                  <a:srgbClr val="646C76"/>
                </a:solidFill>
                <a:latin typeface="Inter"/>
              </a:defRPr>
            </a:pPr>
            <a:r>
              <a:rPr sz="1400" dirty="0"/>
              <a:t>Generates a response from the input and context.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920240"/>
            <a:ext cx="3474720" cy="2057400"/>
          </a:xfrm>
          <a:prstGeom prst="round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43400" y="1920240"/>
            <a:ext cx="54864" cy="2057400"/>
          </a:xfrm>
          <a:prstGeom prst="rect">
            <a:avLst/>
          </a:prstGeom>
          <a:solidFill>
            <a:srgbClr val="2382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44568" y="2084832"/>
            <a:ext cx="309067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600" b="1">
                <a:solidFill>
                  <a:srgbClr val="191C21"/>
                </a:solidFill>
                <a:latin typeface="Space Grotesk"/>
              </a:defRPr>
            </a:pPr>
            <a:r>
              <a:t>Application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4568" y="2487168"/>
            <a:ext cx="309067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200" b="0">
                <a:solidFill>
                  <a:srgbClr val="646C76"/>
                </a:solidFill>
                <a:latin typeface="Inter"/>
              </a:defRPr>
            </a:pPr>
            <a:r>
              <a:rPr sz="1400" dirty="0"/>
              <a:t>Connects data, tools, steps, and decisions.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1920240"/>
            <a:ext cx="3474720" cy="2057400"/>
          </a:xfrm>
          <a:prstGeom prst="round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092440" y="1920240"/>
            <a:ext cx="54864" cy="2057400"/>
          </a:xfrm>
          <a:prstGeom prst="rect">
            <a:avLst/>
          </a:prstGeom>
          <a:solidFill>
            <a:srgbClr val="14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93608" y="2084832"/>
            <a:ext cx="309067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600" b="1">
                <a:solidFill>
                  <a:srgbClr val="191C21"/>
                </a:solidFill>
                <a:latin typeface="Space Grotesk"/>
              </a:defRPr>
            </a:pPr>
            <a:r>
              <a:t>Quality loop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3608" y="2487168"/>
            <a:ext cx="3090672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200" b="0">
                <a:solidFill>
                  <a:srgbClr val="646C76"/>
                </a:solidFill>
                <a:latin typeface="Inter"/>
              </a:defRPr>
            </a:pPr>
            <a:r>
              <a:rPr sz="1400" dirty="0"/>
              <a:t>Tracks behavior, finds issues, and measures quality.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709160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800" b="1">
                <a:solidFill>
                  <a:srgbClr val="191C21"/>
                </a:solidFill>
                <a:latin typeface="Space Grotesk"/>
              </a:defRPr>
            </a:pPr>
            <a:r>
              <a:t>Build the components  →  control the workflow  →  understand the results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00" b="1">
                <a:solidFill>
                  <a:srgbClr val="2A5BD7"/>
                </a:solidFill>
                <a:latin typeface="Inter"/>
              </a:defRPr>
            </a:pPr>
            <a:r>
              <a:t>02 · LANGCHAIN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3000" b="1">
                <a:solidFill>
                  <a:srgbClr val="191C21"/>
                </a:solidFill>
                <a:latin typeface="Space Grotesk"/>
              </a:defRPr>
            </a:pPr>
            <a:r>
              <a:t>What is LangChain?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207008"/>
            <a:ext cx="1097280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300" b="0">
                <a:solidFill>
                  <a:srgbClr val="646C76"/>
                </a:solidFill>
                <a:latin typeface="Inter"/>
              </a:defRPr>
            </a:pPr>
            <a:r>
              <a:rPr sz="1400" dirty="0"/>
              <a:t>A framework for building applications powered by language models.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510528"/>
            <a:ext cx="7315200" cy="1231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00" b="0">
                <a:solidFill>
                  <a:srgbClr val="646C76"/>
                </a:solidFill>
                <a:latin typeface="Inter"/>
              </a:defRPr>
            </a:pPr>
            <a:r>
              <a:rPr dirty="0" err="1"/>
              <a:t>AIYatra</a:t>
            </a:r>
            <a:r>
              <a:rPr dirty="0"/>
              <a:t> 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73952"/>
            <a:ext cx="5029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74519"/>
            <a:ext cx="3429000" cy="2148840"/>
          </a:xfrm>
          <a:prstGeom prst="round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874519"/>
            <a:ext cx="54864" cy="2148840"/>
          </a:xfrm>
          <a:prstGeom prst="rect">
            <a:avLst/>
          </a:prstGeom>
          <a:solidFill>
            <a:srgbClr val="2A5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41247" y="2039112"/>
            <a:ext cx="304495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600" b="1">
                <a:solidFill>
                  <a:srgbClr val="191C21"/>
                </a:solidFill>
                <a:latin typeface="Space Grotesk"/>
              </a:defRPr>
            </a:pPr>
            <a:r>
              <a:rPr dirty="0"/>
              <a:t>Models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2441448"/>
            <a:ext cx="3044952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200" b="0">
                <a:solidFill>
                  <a:srgbClr val="646C76"/>
                </a:solidFill>
                <a:latin typeface="Inter"/>
              </a:defRPr>
            </a:pPr>
            <a:r>
              <a:rPr sz="1400" dirty="0"/>
              <a:t>Connect chat models and embedding models.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874519"/>
            <a:ext cx="3429000" cy="2148840"/>
          </a:xfrm>
          <a:prstGeom prst="round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89120" y="1874519"/>
            <a:ext cx="54864" cy="2148840"/>
          </a:xfrm>
          <a:prstGeom prst="rect">
            <a:avLst/>
          </a:prstGeom>
          <a:solidFill>
            <a:srgbClr val="2382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90288" y="2039112"/>
            <a:ext cx="304495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600" b="1">
                <a:solidFill>
                  <a:srgbClr val="191C21"/>
                </a:solidFill>
                <a:latin typeface="Space Grotesk"/>
              </a:defRPr>
            </a:pPr>
            <a:r>
              <a:t>Prompts +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2441448"/>
            <a:ext cx="3044952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200" b="0">
                <a:solidFill>
                  <a:srgbClr val="646C76"/>
                </a:solidFill>
                <a:latin typeface="Inter"/>
              </a:defRPr>
            </a:pPr>
            <a:r>
              <a:rPr sz="1400" dirty="0"/>
              <a:t>Format instructions and connect relevant information.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874519"/>
            <a:ext cx="3429000" cy="2148840"/>
          </a:xfrm>
          <a:prstGeom prst="round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138160" y="1874519"/>
            <a:ext cx="54864" cy="2148840"/>
          </a:xfrm>
          <a:prstGeom prst="rect">
            <a:avLst/>
          </a:prstGeom>
          <a:solidFill>
            <a:srgbClr val="14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39328" y="2039112"/>
            <a:ext cx="304495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600" b="1">
                <a:solidFill>
                  <a:srgbClr val="191C21"/>
                </a:solidFill>
                <a:latin typeface="Space Grotesk"/>
              </a:defRPr>
            </a:pPr>
            <a:r>
              <a:t>Tools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9328" y="2441448"/>
            <a:ext cx="304495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200" b="0">
                <a:solidFill>
                  <a:srgbClr val="646C76"/>
                </a:solidFill>
                <a:latin typeface="Inter"/>
              </a:defRPr>
            </a:pPr>
            <a:r>
              <a:rPr sz="1400" dirty="0"/>
              <a:t>Connect the model to actions and APIs.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709160"/>
            <a:ext cx="1060704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1">
                <a:solidFill>
                  <a:srgbClr val="2A5BD7"/>
                </a:solidFill>
                <a:latin typeface="Space Grotesk"/>
              </a:defRPr>
            </a:pPr>
            <a:r>
              <a:rPr dirty="0" err="1"/>
              <a:t>LangChain</a:t>
            </a:r>
            <a:r>
              <a:rPr dirty="0"/>
              <a:t> helps connect reusable components around an LLM.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00" b="1">
                <a:solidFill>
                  <a:srgbClr val="2A5BD7"/>
                </a:solidFill>
                <a:latin typeface="Inter"/>
              </a:defRPr>
            </a:pPr>
            <a:r>
              <a:t>02 · LANGCHAIN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3000" b="1">
                <a:solidFill>
                  <a:srgbClr val="191C21"/>
                </a:solidFill>
                <a:latin typeface="Space Grotesk"/>
              </a:defRPr>
            </a:pPr>
            <a:r>
              <a:t>Direct API vs LangChain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207008"/>
            <a:ext cx="1097280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300" b="0">
                <a:solidFill>
                  <a:srgbClr val="646C76"/>
                </a:solidFill>
                <a:latin typeface="Inter"/>
              </a:defRPr>
            </a:pPr>
            <a:r>
              <a:rPr sz="1400" dirty="0"/>
              <a:t>Both are valid; choose based on application complexity.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510528"/>
            <a:ext cx="7315200" cy="1231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00" b="0">
                <a:solidFill>
                  <a:srgbClr val="646C76"/>
                </a:solidFill>
                <a:latin typeface="Inter"/>
              </a:defRPr>
            </a:pPr>
            <a:r>
              <a:rPr dirty="0" err="1"/>
              <a:t>AIYatra</a:t>
            </a:r>
            <a:r>
              <a:rPr dirty="0"/>
              <a:t> 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73952"/>
            <a:ext cx="5029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t>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74519"/>
            <a:ext cx="5166360" cy="2331720"/>
          </a:xfrm>
          <a:prstGeom prst="round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85800" y="1874519"/>
            <a:ext cx="54864" cy="2331720"/>
          </a:xfrm>
          <a:prstGeom prst="rect">
            <a:avLst/>
          </a:prstGeom>
          <a:solidFill>
            <a:srgbClr val="2A5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86968" y="2039112"/>
            <a:ext cx="478231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600" b="1">
                <a:solidFill>
                  <a:srgbClr val="191C21"/>
                </a:solidFill>
                <a:latin typeface="Space Grotesk"/>
              </a:defRPr>
            </a:pPr>
            <a:r>
              <a:t>Direct 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441448"/>
            <a:ext cx="4782312" cy="6463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200" b="0">
                <a:solidFill>
                  <a:srgbClr val="646C76"/>
                </a:solidFill>
                <a:latin typeface="Inter"/>
              </a:defRPr>
            </a:pPr>
            <a:r>
              <a:rPr sz="1400" dirty="0"/>
              <a:t>Good for simple, focused model calls.</a:t>
            </a:r>
          </a:p>
          <a:p>
            <a:pPr algn="l">
              <a:defRPr sz="1200" b="0">
                <a:solidFill>
                  <a:srgbClr val="646C76"/>
                </a:solidFill>
                <a:latin typeface="Inter"/>
              </a:defRPr>
            </a:pPr>
            <a:endParaRPr sz="1400" dirty="0"/>
          </a:p>
          <a:p>
            <a:pPr algn="l">
              <a:defRPr sz="1200" b="0">
                <a:solidFill>
                  <a:srgbClr val="646C76"/>
                </a:solidFill>
                <a:latin typeface="Inter"/>
              </a:defRPr>
            </a:pPr>
            <a:r>
              <a:rPr sz="1400" dirty="0"/>
              <a:t>You control the request and response handling</a:t>
            </a:r>
            <a:r>
              <a:rPr dirty="0"/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874519"/>
            <a:ext cx="5166360" cy="2331720"/>
          </a:xfrm>
          <a:prstGeom prst="round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309360" y="1874519"/>
            <a:ext cx="54864" cy="2331720"/>
          </a:xfrm>
          <a:prstGeom prst="rect">
            <a:avLst/>
          </a:prstGeom>
          <a:solidFill>
            <a:srgbClr val="2A5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10528" y="2039112"/>
            <a:ext cx="478231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600" b="1">
                <a:solidFill>
                  <a:srgbClr val="191C21"/>
                </a:solidFill>
                <a:latin typeface="Space Grotesk"/>
              </a:defRPr>
            </a:pPr>
            <a:r>
              <a:t>LangChain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0528" y="2441448"/>
            <a:ext cx="4782312" cy="6463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200" b="0">
                <a:solidFill>
                  <a:srgbClr val="646C76"/>
                </a:solidFill>
                <a:latin typeface="Inter"/>
              </a:defRPr>
            </a:pPr>
            <a:r>
              <a:rPr sz="1400" dirty="0"/>
              <a:t>Useful for reusable components and integrations.</a:t>
            </a:r>
          </a:p>
          <a:p>
            <a:pPr algn="l">
              <a:defRPr sz="1200" b="0">
                <a:solidFill>
                  <a:srgbClr val="646C76"/>
                </a:solidFill>
                <a:latin typeface="Inter"/>
              </a:defRPr>
            </a:pPr>
            <a:endParaRPr sz="1400" dirty="0"/>
          </a:p>
          <a:p>
            <a:pPr algn="l">
              <a:defRPr sz="1200" b="0">
                <a:solidFill>
                  <a:srgbClr val="646C76"/>
                </a:solidFill>
                <a:latin typeface="Inter"/>
              </a:defRPr>
            </a:pPr>
            <a:r>
              <a:rPr sz="1400" dirty="0"/>
              <a:t>Connect models, prompts, retrieval, and tools.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754880"/>
            <a:ext cx="10515600" cy="261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600" b="1">
                <a:solidFill>
                  <a:srgbClr val="2A5BD7"/>
                </a:solidFill>
                <a:latin typeface="Inter"/>
              </a:defRPr>
            </a:pPr>
            <a:r>
              <a:rPr sz="1700" dirty="0" err="1"/>
              <a:t>LangChain</a:t>
            </a:r>
            <a:r>
              <a:rPr sz="1700" dirty="0"/>
              <a:t> organizes application code; it does not replace the model.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00" b="1">
                <a:solidFill>
                  <a:srgbClr val="2A5BD7"/>
                </a:solidFill>
                <a:latin typeface="Inter"/>
              </a:defRPr>
            </a:pPr>
            <a:r>
              <a:t>03 · COMPONENTS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3000" b="1">
                <a:solidFill>
                  <a:srgbClr val="191C21"/>
                </a:solidFill>
                <a:latin typeface="Space Grotesk"/>
              </a:defRPr>
            </a:pPr>
            <a:r>
              <a:t>LangChain building blocks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207008"/>
            <a:ext cx="109728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300" b="0">
                <a:solidFill>
                  <a:srgbClr val="646C76"/>
                </a:solidFill>
                <a:latin typeface="Inter"/>
              </a:defRPr>
            </a:pPr>
            <a:r>
              <a:t>The pieces used to assemble an AI application.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510528"/>
            <a:ext cx="7315200" cy="1231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00" b="0">
                <a:solidFill>
                  <a:srgbClr val="646C76"/>
                </a:solidFill>
                <a:latin typeface="Inter"/>
              </a:defRPr>
            </a:pPr>
            <a:r>
              <a:rPr dirty="0" err="1"/>
              <a:t>AIYatra</a:t>
            </a:r>
            <a:r>
              <a:rPr dirty="0"/>
              <a:t> 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73952"/>
            <a:ext cx="5029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t>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011680"/>
            <a:ext cx="3429000" cy="2148840"/>
          </a:xfrm>
          <a:prstGeom prst="round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2011680"/>
            <a:ext cx="54864" cy="2148840"/>
          </a:xfrm>
          <a:prstGeom prst="rect">
            <a:avLst/>
          </a:prstGeom>
          <a:solidFill>
            <a:srgbClr val="2A5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41247" y="2176272"/>
            <a:ext cx="304495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t>Models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2578608"/>
            <a:ext cx="3044952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t>Chat models and embedding models provide generation and vector representations.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2011680"/>
            <a:ext cx="3429000" cy="2148840"/>
          </a:xfrm>
          <a:prstGeom prst="round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89120" y="2011680"/>
            <a:ext cx="54864" cy="2148840"/>
          </a:xfrm>
          <a:prstGeom prst="rect">
            <a:avLst/>
          </a:prstGeom>
          <a:solidFill>
            <a:srgbClr val="2382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90288" y="2176272"/>
            <a:ext cx="304495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t>Prompt templates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2578608"/>
            <a:ext cx="3044952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t>Reusable instructions with variables; format messages for the model.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59" y="2011680"/>
            <a:ext cx="3429000" cy="2148840"/>
          </a:xfrm>
          <a:prstGeom prst="round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138159" y="2011680"/>
            <a:ext cx="54864" cy="2148840"/>
          </a:xfrm>
          <a:prstGeom prst="rect">
            <a:avLst/>
          </a:prstGeom>
          <a:solidFill>
            <a:srgbClr val="14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39327" y="2176272"/>
            <a:ext cx="304495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t>Output parsers + tools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9327" y="2578608"/>
            <a:ext cx="3044952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t>Parse model output into a usable format; tools let agents call functions or APIs.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00" b="1">
                <a:solidFill>
                  <a:srgbClr val="2A5BD7"/>
                </a:solidFill>
                <a:latin typeface="Inter"/>
              </a:defRPr>
            </a:pPr>
            <a:r>
              <a:t>04 · USE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3000" b="1">
                <a:solidFill>
                  <a:srgbClr val="191C21"/>
                </a:solidFill>
                <a:latin typeface="Space Grotesk"/>
              </a:defRPr>
            </a:pPr>
            <a:r>
              <a:t>PDF question answering (RAG)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207008"/>
            <a:ext cx="109728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300" b="0">
                <a:solidFill>
                  <a:srgbClr val="646C76"/>
                </a:solidFill>
                <a:latin typeface="Inter"/>
              </a:defRPr>
            </a:pPr>
            <a:r>
              <a:t>Retrieve relevant document context, then generate an answer.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510528"/>
            <a:ext cx="7315200" cy="1231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00" b="0">
                <a:solidFill>
                  <a:srgbClr val="646C76"/>
                </a:solidFill>
                <a:latin typeface="Inter"/>
              </a:defRPr>
            </a:pPr>
            <a:r>
              <a:rPr dirty="0" err="1"/>
              <a:t>AIYatra</a:t>
            </a:r>
            <a:r>
              <a:rPr dirty="0"/>
              <a:t> 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73952"/>
            <a:ext cx="5029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t>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331720"/>
            <a:ext cx="1874519" cy="1234440"/>
          </a:xfrm>
          <a:prstGeom prst="round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12648" y="2542032"/>
            <a:ext cx="16459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600" b="1">
                <a:solidFill>
                  <a:srgbClr val="191C21"/>
                </a:solidFill>
                <a:latin typeface="Space Grotesk"/>
              </a:defRPr>
            </a:pPr>
            <a:r>
              <a:t>PDF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2926080"/>
            <a:ext cx="16459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000" b="0">
                <a:solidFill>
                  <a:srgbClr val="646C76"/>
                </a:solidFill>
                <a:latin typeface="Inter"/>
              </a:defRPr>
            </a:pPr>
            <a:r>
              <a:t>Load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04872" y="269748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600" b="1">
                <a:solidFill>
                  <a:srgbClr val="2A5BD7"/>
                </a:solidFill>
                <a:latin typeface="Inter"/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4639" y="2331720"/>
            <a:ext cx="1874519" cy="1234440"/>
          </a:xfrm>
          <a:prstGeom prst="round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44368" y="2542032"/>
            <a:ext cx="16459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600" b="1">
                <a:solidFill>
                  <a:srgbClr val="191C21"/>
                </a:solidFill>
                <a:latin typeface="Space Grotesk"/>
              </a:defRPr>
            </a:pPr>
            <a:r>
              <a:t>Chunks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44368" y="2926080"/>
            <a:ext cx="16459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000" b="0">
                <a:solidFill>
                  <a:srgbClr val="646C76"/>
                </a:solidFill>
                <a:latin typeface="Inter"/>
              </a:defRPr>
            </a:pPr>
            <a:r>
              <a:t>Split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269748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600" b="1">
                <a:solidFill>
                  <a:srgbClr val="2A5BD7"/>
                </a:solidFill>
                <a:latin typeface="Inter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66359" y="2331720"/>
            <a:ext cx="1874519" cy="1234440"/>
          </a:xfrm>
          <a:prstGeom prst="round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76088" y="2542032"/>
            <a:ext cx="16459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600" b="1">
                <a:solidFill>
                  <a:srgbClr val="191C21"/>
                </a:solidFill>
                <a:latin typeface="Space Grotesk"/>
              </a:defRPr>
            </a:pPr>
            <a:r>
              <a:t>Retriever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76088" y="2926080"/>
            <a:ext cx="16459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000" b="0">
                <a:solidFill>
                  <a:srgbClr val="646C76"/>
                </a:solidFill>
                <a:latin typeface="Inter"/>
              </a:defRPr>
            </a:pPr>
            <a:r>
              <a:t>Find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68312" y="269748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600" b="1">
                <a:solidFill>
                  <a:srgbClr val="2A5BD7"/>
                </a:solidFill>
                <a:latin typeface="Inter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79" y="2331720"/>
            <a:ext cx="1874519" cy="1234440"/>
          </a:xfrm>
          <a:prstGeom prst="round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607807" y="2542032"/>
            <a:ext cx="16459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600" b="1">
                <a:solidFill>
                  <a:srgbClr val="191C21"/>
                </a:solidFill>
                <a:latin typeface="Space Grotesk"/>
              </a:defRPr>
            </a:pPr>
            <a:r>
              <a:t>LLM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07807" y="2926080"/>
            <a:ext cx="16459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000" b="0">
                <a:solidFill>
                  <a:srgbClr val="646C76"/>
                </a:solidFill>
                <a:latin typeface="Inter"/>
              </a:defRPr>
            </a:pPr>
            <a:r>
              <a:t>Generate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00032" y="269748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600" b="1">
                <a:solidFill>
                  <a:srgbClr val="2A5BD7"/>
                </a:solidFill>
                <a:latin typeface="Inter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829800" y="2331720"/>
            <a:ext cx="1874519" cy="1234440"/>
          </a:xfrm>
          <a:prstGeom prst="round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939528" y="2542032"/>
            <a:ext cx="16459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600" b="1">
                <a:solidFill>
                  <a:srgbClr val="191C21"/>
                </a:solidFill>
                <a:latin typeface="Space Grotesk"/>
              </a:defRPr>
            </a:pPr>
            <a:r>
              <a:t>Answer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39528" y="2926080"/>
            <a:ext cx="16459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000" b="0">
                <a:solidFill>
                  <a:srgbClr val="646C76"/>
                </a:solidFill>
                <a:latin typeface="Inter"/>
              </a:defRPr>
            </a:pPr>
            <a:r>
              <a:t>Return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43434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500" b="0">
                <a:solidFill>
                  <a:srgbClr val="646C76"/>
                </a:solidFill>
                <a:latin typeface="Inter"/>
              </a:defRPr>
            </a:pPr>
            <a:r>
              <a:t>For a large document, retrieve relevant chunks instead of sending everything.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00" b="1">
                <a:solidFill>
                  <a:srgbClr val="2A5BD7"/>
                </a:solidFill>
                <a:latin typeface="Inter"/>
              </a:defRPr>
            </a:pPr>
            <a:r>
              <a:t>04 · USE CASES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3000" b="1">
                <a:solidFill>
                  <a:srgbClr val="191C21"/>
                </a:solidFill>
                <a:latin typeface="Space Grotesk"/>
              </a:defRPr>
            </a:pPr>
            <a:r>
              <a:t>Where can we use LangChain?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207008"/>
            <a:ext cx="1097280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300" b="0">
                <a:solidFill>
                  <a:srgbClr val="646C76"/>
                </a:solidFill>
                <a:latin typeface="Inter"/>
              </a:defRPr>
            </a:pPr>
            <a:r>
              <a:rPr sz="1400" dirty="0"/>
              <a:t>Common patterns for LLM-powered applications.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510528"/>
            <a:ext cx="7315200" cy="1231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00" b="0">
                <a:solidFill>
                  <a:srgbClr val="646C76"/>
                </a:solidFill>
                <a:latin typeface="Inter"/>
              </a:defRPr>
            </a:pPr>
            <a:r>
              <a:rPr dirty="0" err="1"/>
              <a:t>AIYatra</a:t>
            </a:r>
            <a:r>
              <a:rPr dirty="0"/>
              <a:t> 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73952"/>
            <a:ext cx="5029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3429000" cy="2194560"/>
          </a:xfrm>
          <a:prstGeom prst="round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920240"/>
            <a:ext cx="54864" cy="2194560"/>
          </a:xfrm>
          <a:prstGeom prst="rect">
            <a:avLst/>
          </a:prstGeom>
          <a:solidFill>
            <a:srgbClr val="2A5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41247" y="2084832"/>
            <a:ext cx="304495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600" b="1">
                <a:solidFill>
                  <a:srgbClr val="191C21"/>
                </a:solidFill>
                <a:latin typeface="Space Grotesk"/>
              </a:defRPr>
            </a:pPr>
            <a:r>
              <a:t>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2487168"/>
            <a:ext cx="304495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200" b="0">
                <a:solidFill>
                  <a:srgbClr val="646C76"/>
                </a:solidFill>
                <a:latin typeface="Inter"/>
              </a:defRPr>
            </a:pPr>
            <a:r>
              <a:rPr sz="1400" dirty="0"/>
              <a:t>Answer using PDFs and knowledge bases.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920240"/>
            <a:ext cx="3429000" cy="2194560"/>
          </a:xfrm>
          <a:prstGeom prst="round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89120" y="1920240"/>
            <a:ext cx="54864" cy="2194560"/>
          </a:xfrm>
          <a:prstGeom prst="rect">
            <a:avLst/>
          </a:prstGeom>
          <a:solidFill>
            <a:srgbClr val="2382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90288" y="2084832"/>
            <a:ext cx="304495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600" b="1">
                <a:solidFill>
                  <a:srgbClr val="191C21"/>
                </a:solidFill>
                <a:latin typeface="Space Grotesk"/>
              </a:defRPr>
            </a:pPr>
            <a:r>
              <a:t>Chatbots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2487168"/>
            <a:ext cx="304495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200" b="0">
                <a:solidFill>
                  <a:srgbClr val="646C76"/>
                </a:solidFill>
                <a:latin typeface="Inter"/>
              </a:defRPr>
            </a:pPr>
            <a:r>
              <a:rPr sz="1400" dirty="0"/>
              <a:t>Conversational applications with context.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920240"/>
            <a:ext cx="3429000" cy="2194560"/>
          </a:xfrm>
          <a:prstGeom prst="round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138160" y="1920240"/>
            <a:ext cx="54864" cy="2194560"/>
          </a:xfrm>
          <a:prstGeom prst="rect">
            <a:avLst/>
          </a:prstGeom>
          <a:solidFill>
            <a:srgbClr val="14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304495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600" b="1">
                <a:solidFill>
                  <a:srgbClr val="191C21"/>
                </a:solidFill>
                <a:latin typeface="Space Grotesk"/>
              </a:defRPr>
            </a:pPr>
            <a:r>
              <a:t>Integrations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9328" y="2487168"/>
            <a:ext cx="304495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200" b="0">
                <a:solidFill>
                  <a:srgbClr val="646C76"/>
                </a:solidFill>
                <a:latin typeface="Inter"/>
              </a:defRPr>
            </a:pPr>
            <a:r>
              <a:rPr sz="1400" dirty="0"/>
              <a:t>Connect APIs, databases, and tools.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709160"/>
            <a:ext cx="105156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600" b="1">
                <a:solidFill>
                  <a:srgbClr val="2A5BD7"/>
                </a:solidFill>
                <a:latin typeface="Inter"/>
              </a:defRPr>
            </a:pPr>
            <a:r>
              <a:t>Use the components that fit your application's needs.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00" b="1">
                <a:solidFill>
                  <a:srgbClr val="2A5BD7"/>
                </a:solidFill>
                <a:latin typeface="Inter"/>
              </a:defRPr>
            </a:pPr>
            <a:r>
              <a:t>05 · LANGGRAPH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3000" b="1">
                <a:solidFill>
                  <a:srgbClr val="191C21"/>
                </a:solidFill>
                <a:latin typeface="Space Grotesk"/>
              </a:defRPr>
            </a:pPr>
            <a:r>
              <a:t>What is LangGraph?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207008"/>
            <a:ext cx="1097280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300" b="0">
                <a:solidFill>
                  <a:srgbClr val="646C76"/>
                </a:solidFill>
                <a:latin typeface="Inter"/>
              </a:defRPr>
            </a:pPr>
            <a:r>
              <a:rPr sz="1400" dirty="0"/>
              <a:t>A framework for stateful, controllable multi-step workflows.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510528"/>
            <a:ext cx="7315200" cy="1231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00" b="0">
                <a:solidFill>
                  <a:srgbClr val="646C76"/>
                </a:solidFill>
                <a:latin typeface="Inter"/>
              </a:defRPr>
            </a:pPr>
            <a:r>
              <a:rPr dirty="0" err="1"/>
              <a:t>AIYatra</a:t>
            </a:r>
            <a:r>
              <a:rPr dirty="0"/>
              <a:t> 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73952"/>
            <a:ext cx="5029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240280"/>
            <a:ext cx="2240280" cy="1234440"/>
          </a:xfrm>
          <a:prstGeom prst="round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2468880"/>
            <a:ext cx="2057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1">
                <a:solidFill>
                  <a:srgbClr val="191C21"/>
                </a:solidFill>
                <a:latin typeface="Space Grotesk"/>
              </a:defRPr>
            </a:pPr>
            <a:r>
              <a:t>Start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52928"/>
            <a:ext cx="2057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000" b="0">
                <a:solidFill>
                  <a:srgbClr val="646C76"/>
                </a:solidFill>
                <a:latin typeface="Inter"/>
              </a:defRPr>
            </a:pPr>
            <a:r>
              <a:t>Input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71800" y="2670048"/>
            <a:ext cx="5029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800" b="1">
                <a:solidFill>
                  <a:srgbClr val="2A5BD7"/>
                </a:solidFill>
                <a:latin typeface="Inter"/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6160" y="2240280"/>
            <a:ext cx="2240280" cy="1234440"/>
          </a:xfrm>
          <a:prstGeom prst="round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57600" y="2468880"/>
            <a:ext cx="2057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1">
                <a:solidFill>
                  <a:srgbClr val="191C21"/>
                </a:solidFill>
                <a:latin typeface="Space Grotesk"/>
              </a:defRPr>
            </a:pPr>
            <a:r>
              <a:t>LLM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852928"/>
            <a:ext cx="2057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000" b="0">
                <a:solidFill>
                  <a:srgbClr val="646C76"/>
                </a:solidFill>
                <a:latin typeface="Inter"/>
              </a:defRPr>
            </a:pPr>
            <a:r>
              <a:t>Reason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670048"/>
            <a:ext cx="5029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800" b="1">
                <a:solidFill>
                  <a:srgbClr val="2A5BD7"/>
                </a:solidFill>
                <a:latin typeface="Inter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46520" y="2240280"/>
            <a:ext cx="2240280" cy="1234440"/>
          </a:xfrm>
          <a:prstGeom prst="round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37959" y="2468880"/>
            <a:ext cx="2057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1">
                <a:solidFill>
                  <a:srgbClr val="191C21"/>
                </a:solidFill>
                <a:latin typeface="Space Grotesk"/>
              </a:defRPr>
            </a:pPr>
            <a:r>
              <a:t>Tool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59" y="2852928"/>
            <a:ext cx="2057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000" b="0">
                <a:solidFill>
                  <a:srgbClr val="646C76"/>
                </a:solidFill>
                <a:latin typeface="Inter"/>
              </a:defRPr>
            </a:pPr>
            <a:r>
              <a:t>Action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32520" y="2670048"/>
            <a:ext cx="5029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800" b="1">
                <a:solidFill>
                  <a:srgbClr val="2A5BD7"/>
                </a:solidFill>
                <a:latin typeface="Inter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26880" y="2240280"/>
            <a:ext cx="2240280" cy="1234440"/>
          </a:xfrm>
          <a:prstGeom prst="round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418319" y="2468880"/>
            <a:ext cx="2057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1">
                <a:solidFill>
                  <a:srgbClr val="191C21"/>
                </a:solidFill>
                <a:latin typeface="Space Grotesk"/>
              </a:defRPr>
            </a:pPr>
            <a:r>
              <a:t>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19" y="2852928"/>
            <a:ext cx="2057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000" b="0">
                <a:solidFill>
                  <a:srgbClr val="646C76"/>
                </a:solidFill>
                <a:latin typeface="Inter"/>
              </a:defRPr>
            </a:pPr>
            <a:r>
              <a:t>Route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251960"/>
            <a:ext cx="107899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500" b="1">
                <a:solidFill>
                  <a:srgbClr val="191C21"/>
                </a:solidFill>
                <a:latin typeface="Inter"/>
              </a:defRPr>
            </a:pPr>
            <a:r>
              <a:t>Nodes = steps  ·  Edges = transitions  ·  State = shared information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892040"/>
            <a:ext cx="1078992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300" b="0">
                <a:solidFill>
                  <a:srgbClr val="646C76"/>
                </a:solidFill>
                <a:latin typeface="Inter"/>
              </a:defRPr>
            </a:pPr>
            <a:r>
              <a:rPr sz="1400" dirty="0"/>
              <a:t>Branch, loop, retry, or continue based on conditions.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4937760" cy="22860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900" b="1">
                <a:solidFill>
                  <a:srgbClr val="37A97D"/>
                </a:solidFill>
                <a:latin typeface="Inter"/>
              </a:defRPr>
            </a:pPr>
            <a:r>
              <a:t>05 · LANGGRAPH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49808"/>
            <a:ext cx="10789920" cy="56692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2700" b="1">
                <a:solidFill>
                  <a:srgbClr val="1D2430"/>
                </a:solidFill>
                <a:latin typeface="Space Grotesk"/>
              </a:defRPr>
            </a:pPr>
            <a:r>
              <a:t>LangGraph workflow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353312"/>
            <a:ext cx="10515600" cy="252377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1300" b="0">
                <a:solidFill>
                  <a:srgbClr val="5F6975"/>
                </a:solidFill>
                <a:latin typeface="Inter"/>
              </a:defRPr>
            </a:pPr>
            <a:r>
              <a:rPr sz="1400" dirty="0"/>
              <a:t>RAG agent: retrieve → generate → evaluate → answer or retry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148840"/>
            <a:ext cx="1600200" cy="1051560"/>
          </a:xfrm>
          <a:prstGeom prst="roundRect">
            <a:avLst/>
          </a:prstGeom>
          <a:solidFill>
            <a:srgbClr val="EBF3FC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2148840"/>
            <a:ext cx="1600200" cy="64008"/>
          </a:xfrm>
          <a:prstGeom prst="rect">
            <a:avLst/>
          </a:prstGeom>
          <a:solidFill>
            <a:srgbClr val="4384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5528" y="2313432"/>
            <a:ext cx="1380744" cy="329184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>
              <a:defRPr sz="1500" b="1">
                <a:solidFill>
                  <a:srgbClr val="1D2430"/>
                </a:solidFill>
                <a:latin typeface="Space Grotesk"/>
              </a:defRPr>
            </a:pPr>
            <a:r>
              <a:t>START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679192"/>
            <a:ext cx="1380744" cy="448055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>
              <a:defRPr sz="1000" b="0">
                <a:solidFill>
                  <a:srgbClr val="5F6975"/>
                </a:solidFill>
                <a:latin typeface="Inter"/>
              </a:defRPr>
            </a:pPr>
            <a:r>
              <a:t>User question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88920" y="2148840"/>
            <a:ext cx="1874519" cy="1051560"/>
          </a:xfrm>
          <a:prstGeom prst="roundRect">
            <a:avLst/>
          </a:prstGeom>
          <a:solidFill>
            <a:srgbClr val="E8F6E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788920" y="2148840"/>
            <a:ext cx="1874519" cy="64008"/>
          </a:xfrm>
          <a:prstGeom prst="rect">
            <a:avLst/>
          </a:prstGeom>
          <a:solidFill>
            <a:srgbClr val="37A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898648" y="2313432"/>
            <a:ext cx="1655063" cy="329184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>
              <a:defRPr sz="1500" b="1">
                <a:solidFill>
                  <a:srgbClr val="1D2430"/>
                </a:solidFill>
                <a:latin typeface="Space Grotesk"/>
              </a:defRPr>
            </a:pPr>
            <a:r>
              <a:t>Retrieve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8648" y="2679192"/>
            <a:ext cx="1655063" cy="448055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>
              <a:defRPr sz="1000" b="0">
                <a:solidFill>
                  <a:srgbClr val="5F6975"/>
                </a:solidFill>
                <a:latin typeface="Inter"/>
              </a:defRPr>
            </a:pPr>
            <a:r>
              <a:t>Find relevant chunks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66360" y="2148840"/>
            <a:ext cx="1874519" cy="1051560"/>
          </a:xfrm>
          <a:prstGeom prst="roundRect">
            <a:avLst/>
          </a:prstGeom>
          <a:solidFill>
            <a:srgbClr val="EBF3FC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166360" y="2148840"/>
            <a:ext cx="1874519" cy="64008"/>
          </a:xfrm>
          <a:prstGeom prst="rect">
            <a:avLst/>
          </a:prstGeom>
          <a:solidFill>
            <a:srgbClr val="4384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276088" y="2313432"/>
            <a:ext cx="1655063" cy="329184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>
              <a:defRPr sz="1500" b="1">
                <a:solidFill>
                  <a:srgbClr val="1D2430"/>
                </a:solidFill>
                <a:latin typeface="Space Grotesk"/>
              </a:defRPr>
            </a:pPr>
            <a:r>
              <a:t>Generate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76088" y="2679192"/>
            <a:ext cx="1655063" cy="448055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>
              <a:defRPr sz="1000" b="0">
                <a:solidFill>
                  <a:srgbClr val="5F6975"/>
                </a:solidFill>
                <a:latin typeface="Inter"/>
              </a:defRPr>
            </a:pPr>
            <a:r>
              <a:t>LLM drafts answer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43800" y="2148840"/>
            <a:ext cx="1874519" cy="1051560"/>
          </a:xfrm>
          <a:prstGeom prst="roundRect">
            <a:avLst/>
          </a:prstGeom>
          <a:solidFill>
            <a:srgbClr val="FCF1E6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543800" y="2148840"/>
            <a:ext cx="1874519" cy="64008"/>
          </a:xfrm>
          <a:prstGeom prst="rect">
            <a:avLst/>
          </a:prstGeom>
          <a:solidFill>
            <a:srgbClr val="E891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653527" y="2313432"/>
            <a:ext cx="1655063" cy="329184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>
              <a:defRPr sz="1500" b="1">
                <a:solidFill>
                  <a:srgbClr val="1D2430"/>
                </a:solidFill>
                <a:latin typeface="Space Grotesk"/>
              </a:defRPr>
            </a:pPr>
            <a:r>
              <a:t>Evaluate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3527" y="2679192"/>
            <a:ext cx="1655063" cy="448055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>
              <a:defRPr sz="1000" b="0">
                <a:solidFill>
                  <a:srgbClr val="5F6975"/>
                </a:solidFill>
                <a:latin typeface="Inter"/>
              </a:defRPr>
            </a:pPr>
            <a:r>
              <a:t>Check relevance</a:t>
            </a:r>
          </a:p>
        </p:txBody>
      </p:sp>
      <p:sp>
        <p:nvSpPr>
          <p:cNvPr id="21" name="Diamond 20"/>
          <p:cNvSpPr/>
          <p:nvPr/>
        </p:nvSpPr>
        <p:spPr>
          <a:xfrm>
            <a:off x="9921240" y="2029968"/>
            <a:ext cx="1417320" cy="1325880"/>
          </a:xfrm>
          <a:prstGeom prst="diamond">
            <a:avLst/>
          </a:prstGeom>
          <a:solidFill>
            <a:srgbClr val="FFFFFF"/>
          </a:solidFill>
          <a:ln>
            <a:solidFill>
              <a:srgbClr val="E891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085832" y="2450592"/>
            <a:ext cx="1078992" cy="43891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>
              <a:defRPr sz="1200" b="1">
                <a:solidFill>
                  <a:srgbClr val="1D2430"/>
                </a:solidFill>
                <a:latin typeface="Inter"/>
              </a:defRPr>
            </a:pPr>
            <a:r>
              <a:t>Relevant?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0" y="4160520"/>
            <a:ext cx="2057400" cy="960120"/>
          </a:xfrm>
          <a:prstGeom prst="roundRect">
            <a:avLst/>
          </a:prstGeom>
          <a:solidFill>
            <a:srgbClr val="E8F6E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229600" y="4160520"/>
            <a:ext cx="2057400" cy="64008"/>
          </a:xfrm>
          <a:prstGeom prst="rect">
            <a:avLst/>
          </a:prstGeom>
          <a:solidFill>
            <a:srgbClr val="37A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339327" y="4325112"/>
            <a:ext cx="1837943" cy="329184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>
              <a:defRPr sz="1500" b="1">
                <a:solidFill>
                  <a:srgbClr val="1D2430"/>
                </a:solidFill>
                <a:latin typeface="Space Grotesk"/>
              </a:defRPr>
            </a:pPr>
            <a:r>
              <a:t>END / Answer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9327" y="4690872"/>
            <a:ext cx="1837943" cy="356616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>
              <a:defRPr sz="1000" b="0">
                <a:solidFill>
                  <a:srgbClr val="5F6975"/>
                </a:solidFill>
                <a:latin typeface="Inter"/>
              </a:defRPr>
            </a:pPr>
            <a:r>
              <a:t>Return response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83480" y="4160520"/>
            <a:ext cx="2240280" cy="960120"/>
          </a:xfrm>
          <a:prstGeom prst="roundRect">
            <a:avLst/>
          </a:prstGeom>
          <a:solidFill>
            <a:srgbClr val="FCF1E6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4983480" y="4160520"/>
            <a:ext cx="2240280" cy="64008"/>
          </a:xfrm>
          <a:prstGeom prst="rect">
            <a:avLst/>
          </a:prstGeom>
          <a:solidFill>
            <a:srgbClr val="E891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093208" y="4325112"/>
            <a:ext cx="2020824" cy="329184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>
              <a:defRPr sz="1500" b="1">
                <a:solidFill>
                  <a:srgbClr val="1D2430"/>
                </a:solidFill>
                <a:latin typeface="Space Grotesk"/>
              </a:defRPr>
            </a:pPr>
            <a:r>
              <a:t>Rewrite query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93208" y="4690872"/>
            <a:ext cx="2020824" cy="356616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>
              <a:defRPr sz="1000" b="0">
                <a:solidFill>
                  <a:srgbClr val="5F6975"/>
                </a:solidFill>
                <a:latin typeface="Inter"/>
              </a:defRPr>
            </a:pPr>
            <a:r>
              <a:t>Improve retrieval query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286000" y="2670048"/>
            <a:ext cx="502920" cy="0"/>
          </a:xfrm>
          <a:prstGeom prst="line">
            <a:avLst/>
          </a:prstGeom>
          <a:ln w="25400">
            <a:solidFill>
              <a:srgbClr val="5F69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663440" y="2670048"/>
            <a:ext cx="502920" cy="0"/>
          </a:xfrm>
          <a:prstGeom prst="line">
            <a:avLst/>
          </a:prstGeom>
          <a:ln w="25400">
            <a:solidFill>
              <a:srgbClr val="5F69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040880" y="2670048"/>
            <a:ext cx="502920" cy="0"/>
          </a:xfrm>
          <a:prstGeom prst="line">
            <a:avLst/>
          </a:prstGeom>
          <a:ln w="25400">
            <a:solidFill>
              <a:srgbClr val="5F69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18320" y="2670048"/>
            <a:ext cx="502920" cy="0"/>
          </a:xfrm>
          <a:prstGeom prst="line">
            <a:avLst/>
          </a:prstGeom>
          <a:ln w="25400">
            <a:solidFill>
              <a:srgbClr val="5F69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9326880" y="3355848"/>
            <a:ext cx="1298448" cy="804672"/>
          </a:xfrm>
          <a:prstGeom prst="line">
            <a:avLst/>
          </a:prstGeom>
          <a:ln w="25400">
            <a:solidFill>
              <a:srgbClr val="37A9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9921240" y="3493008"/>
            <a:ext cx="731520" cy="219456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>
              <a:defRPr sz="900" b="1">
                <a:solidFill>
                  <a:srgbClr val="37A97D"/>
                </a:solidFill>
                <a:latin typeface="Inter"/>
              </a:defRPr>
            </a:pPr>
            <a:r>
              <a:t>YES</a:t>
            </a:r>
          </a:p>
        </p:txBody>
      </p:sp>
      <p:cxnSp>
        <p:nvCxnSpPr>
          <p:cNvPr id="37" name="Connector 36"/>
          <p:cNvCxnSpPr/>
          <p:nvPr/>
        </p:nvCxnSpPr>
        <p:spPr>
          <a:xfrm flipH="1">
            <a:off x="6812280" y="2971800"/>
            <a:ext cx="3246120" cy="1188720"/>
          </a:xfrm>
          <a:prstGeom prst="line">
            <a:avLst/>
          </a:prstGeom>
          <a:ln w="25400">
            <a:solidFill>
              <a:srgbClr val="E891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7818120" y="3456432"/>
            <a:ext cx="731520" cy="219456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>
              <a:defRPr sz="900" b="1">
                <a:solidFill>
                  <a:srgbClr val="E89146"/>
                </a:solidFill>
                <a:latin typeface="Inter"/>
              </a:defRPr>
            </a:pPr>
            <a:r>
              <a:t>NO</a:t>
            </a:r>
          </a:p>
        </p:txBody>
      </p:sp>
      <p:cxnSp>
        <p:nvCxnSpPr>
          <p:cNvPr id="39" name="Connector 38"/>
          <p:cNvCxnSpPr/>
          <p:nvPr/>
        </p:nvCxnSpPr>
        <p:spPr>
          <a:xfrm flipH="1" flipV="1">
            <a:off x="3703320" y="3200400"/>
            <a:ext cx="1280160" cy="1444752"/>
          </a:xfrm>
          <a:prstGeom prst="line">
            <a:avLst/>
          </a:prstGeom>
          <a:ln w="25400">
            <a:solidFill>
              <a:srgbClr val="E891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3611880" y="3767328"/>
            <a:ext cx="1051560" cy="219456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>
              <a:defRPr sz="900" b="1">
                <a:solidFill>
                  <a:srgbClr val="E89146"/>
                </a:solidFill>
                <a:latin typeface="Inter"/>
              </a:defRPr>
            </a:pPr>
            <a:r>
              <a:t>retry loop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9808" y="5715000"/>
            <a:ext cx="10515600" cy="252377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>
              <a:defRPr sz="1200" b="0">
                <a:solidFill>
                  <a:srgbClr val="5F6975"/>
                </a:solidFill>
                <a:latin typeface="Inter"/>
              </a:defRPr>
            </a:pPr>
            <a:r>
              <a:rPr sz="1400" dirty="0"/>
              <a:t>State carries the question, retrieved chunks, draft answer, and evaluation result between nodes.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3232" y="6473952"/>
            <a:ext cx="5303520" cy="16459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700" b="1">
                <a:solidFill>
                  <a:srgbClr val="5F6975"/>
                </a:solidFill>
                <a:latin typeface="Inter"/>
              </a:defRPr>
            </a:pPr>
            <a:r>
              <a:t>AIYATRA  ·  LANGGRAPH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61320" y="6473952"/>
            <a:ext cx="822960" cy="16459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5029200" cy="22860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900" b="1">
                <a:solidFill>
                  <a:srgbClr val="37A97D"/>
                </a:solidFill>
                <a:latin typeface="Inter"/>
              </a:defRPr>
            </a:pPr>
            <a:r>
              <a:t>LANGGRAPH • FOUNDATIONS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49808"/>
            <a:ext cx="10789920" cy="59436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2700" b="1">
                <a:solidFill>
                  <a:srgbClr val="1D2430"/>
                </a:solidFill>
                <a:latin typeface="Space Grotesk"/>
              </a:defRPr>
            </a:pPr>
            <a:r>
              <a:t>LangGraph core concepts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389888"/>
            <a:ext cx="10607040" cy="252377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1300" b="0">
                <a:solidFill>
                  <a:srgbClr val="5F6975"/>
                </a:solidFill>
                <a:latin typeface="Inter"/>
              </a:defRPr>
            </a:pPr>
            <a:r>
              <a:rPr sz="1400" dirty="0"/>
              <a:t>A graph describes how an application moves from one step to the next.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473952"/>
            <a:ext cx="5303520" cy="16459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700" b="1">
                <a:solidFill>
                  <a:srgbClr val="5F6975"/>
                </a:solidFill>
                <a:latin typeface="Inter"/>
              </a:defRPr>
            </a:pPr>
            <a:r>
              <a:t>AIYATRA • LANGGRAPH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473952"/>
            <a:ext cx="822960" cy="16459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57400"/>
            <a:ext cx="2606040" cy="1828800"/>
          </a:xfrm>
          <a:prstGeom prst="roundRect">
            <a:avLst/>
          </a:prstGeom>
          <a:solidFill>
            <a:srgbClr val="EBF3FC"/>
          </a:solidFill>
          <a:ln>
            <a:solidFill>
              <a:srgbClr val="E5E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2057400"/>
            <a:ext cx="2606040" cy="64008"/>
          </a:xfrm>
          <a:prstGeom prst="rect">
            <a:avLst/>
          </a:prstGeom>
          <a:solidFill>
            <a:srgbClr val="4384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96112" y="2258568"/>
            <a:ext cx="2276856" cy="4114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1800" b="1">
                <a:solidFill>
                  <a:srgbClr val="1D2430"/>
                </a:solidFill>
                <a:latin typeface="Space Grotesk"/>
              </a:defRPr>
            </a:pPr>
            <a:r>
              <a:t>State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715768"/>
            <a:ext cx="2276856" cy="683264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1300" b="0">
                <a:solidFill>
                  <a:srgbClr val="5F6975"/>
                </a:solidFill>
                <a:latin typeface="Inter"/>
              </a:defRPr>
            </a:pPr>
            <a:r>
              <a:rPr sz="1400" dirty="0"/>
              <a:t>Shared data that carries the current query, retrieved context, and answer.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0440" y="2057400"/>
            <a:ext cx="2606040" cy="1828800"/>
          </a:xfrm>
          <a:prstGeom prst="roundRect">
            <a:avLst/>
          </a:prstGeom>
          <a:solidFill>
            <a:srgbClr val="E8F6EF"/>
          </a:solidFill>
          <a:ln>
            <a:solidFill>
              <a:srgbClr val="E5E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520440" y="2057400"/>
            <a:ext cx="2606040" cy="64008"/>
          </a:xfrm>
          <a:prstGeom prst="rect">
            <a:avLst/>
          </a:prstGeom>
          <a:solidFill>
            <a:srgbClr val="37A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85032" y="2258568"/>
            <a:ext cx="2276856" cy="4114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1800" b="1">
                <a:solidFill>
                  <a:srgbClr val="1D2430"/>
                </a:solidFill>
                <a:latin typeface="Space Grotesk"/>
              </a:defRPr>
            </a:pPr>
            <a:r>
              <a:t>Nodes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85032" y="2715768"/>
            <a:ext cx="2276856" cy="683264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1300" b="0">
                <a:solidFill>
                  <a:srgbClr val="5F6975"/>
                </a:solidFill>
                <a:latin typeface="Inter"/>
              </a:defRPr>
            </a:pPr>
            <a:r>
              <a:rPr sz="1400" dirty="0"/>
              <a:t>Individual steps: call a model, retrieve documents, run a tool, or validate output.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2057400"/>
            <a:ext cx="2606040" cy="1828800"/>
          </a:xfrm>
          <a:prstGeom prst="roundRect">
            <a:avLst/>
          </a:prstGeom>
          <a:solidFill>
            <a:srgbClr val="FCF1E6"/>
          </a:solidFill>
          <a:ln>
            <a:solidFill>
              <a:srgbClr val="E5E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309360" y="2057400"/>
            <a:ext cx="2606040" cy="64008"/>
          </a:xfrm>
          <a:prstGeom prst="rect">
            <a:avLst/>
          </a:prstGeom>
          <a:solidFill>
            <a:srgbClr val="E891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73952" y="2258568"/>
            <a:ext cx="2276856" cy="4114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1800" b="1">
                <a:solidFill>
                  <a:srgbClr val="1D2430"/>
                </a:solidFill>
                <a:latin typeface="Space Grotesk"/>
              </a:defRPr>
            </a:pPr>
            <a:r>
              <a:t>Edges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2" y="2715768"/>
            <a:ext cx="2276856" cy="4678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1300" b="0">
                <a:solidFill>
                  <a:srgbClr val="5F6975"/>
                </a:solidFill>
                <a:latin typeface="Inter"/>
              </a:defRPr>
            </a:pPr>
            <a:r>
              <a:rPr sz="1400" dirty="0"/>
              <a:t>Connections that define which step runs next.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98280" y="2057400"/>
            <a:ext cx="23317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5E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098280" y="2057400"/>
            <a:ext cx="2331720" cy="64008"/>
          </a:xfrm>
          <a:prstGeom prst="rect">
            <a:avLst/>
          </a:prstGeom>
          <a:solidFill>
            <a:srgbClr val="4384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262872" y="2258568"/>
            <a:ext cx="2002536" cy="4114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1800" b="1">
                <a:solidFill>
                  <a:srgbClr val="1D2430"/>
                </a:solidFill>
                <a:latin typeface="Space Grotesk"/>
              </a:defRPr>
            </a:pPr>
            <a:r>
              <a:t>START / END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62872" y="2715768"/>
            <a:ext cx="2002536" cy="683264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1300" b="0">
                <a:solidFill>
                  <a:srgbClr val="5F6975"/>
                </a:solidFill>
                <a:latin typeface="Inter"/>
              </a:defRPr>
            </a:pPr>
            <a:r>
              <a:rPr sz="1400" dirty="0"/>
              <a:t>Entry and exit points that mark the workflow boundary.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572000"/>
            <a:ext cx="10058400" cy="59436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>
              <a:defRPr sz="1700" b="1">
                <a:solidFill>
                  <a:srgbClr val="1D2430"/>
                </a:solidFill>
                <a:latin typeface="Space Grotesk"/>
              </a:defRPr>
            </a:pPr>
            <a:r>
              <a:t>Think: State = what we know • Node = what we do • Edge = where we go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5029200" cy="22860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900" b="1">
                <a:solidFill>
                  <a:srgbClr val="37A97D"/>
                </a:solidFill>
                <a:latin typeface="Inter"/>
              </a:defRPr>
            </a:pPr>
            <a:r>
              <a:t>LANGGRAPH • EXECUTION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49808"/>
            <a:ext cx="10789920" cy="59436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2700" b="1">
                <a:solidFill>
                  <a:srgbClr val="1D2430"/>
                </a:solidFill>
                <a:latin typeface="Space Grotesk"/>
              </a:defRPr>
            </a:pPr>
            <a:r>
              <a:t>How a LangGraph workflow runs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389888"/>
            <a:ext cx="10607040" cy="252377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1300" b="0">
                <a:solidFill>
                  <a:srgbClr val="5F6975"/>
                </a:solidFill>
                <a:latin typeface="Inter"/>
              </a:defRPr>
            </a:pPr>
            <a:r>
              <a:rPr sz="1400" dirty="0"/>
              <a:t>The graph runs steps in order, updates state, and follows the next edge.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473952"/>
            <a:ext cx="5303520" cy="16459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700" b="1">
                <a:solidFill>
                  <a:srgbClr val="5F6975"/>
                </a:solidFill>
                <a:latin typeface="Inter"/>
              </a:defRPr>
            </a:pPr>
            <a:r>
              <a:t>AIYATRA • LANGGRAPH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473952"/>
            <a:ext cx="822960" cy="16459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331720"/>
            <a:ext cx="1965960" cy="1508760"/>
          </a:xfrm>
          <a:prstGeom prst="roundRect">
            <a:avLst/>
          </a:prstGeom>
          <a:solidFill>
            <a:srgbClr val="EBF3FC"/>
          </a:solidFill>
          <a:ln>
            <a:solidFill>
              <a:srgbClr val="E5E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85800" y="2331720"/>
            <a:ext cx="1965960" cy="64008"/>
          </a:xfrm>
          <a:prstGeom prst="rect">
            <a:avLst/>
          </a:prstGeom>
          <a:solidFill>
            <a:srgbClr val="4384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0392" y="2532888"/>
            <a:ext cx="1636776" cy="4114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1800" b="1">
                <a:solidFill>
                  <a:srgbClr val="1D2430"/>
                </a:solidFill>
                <a:latin typeface="Space Grotesk"/>
              </a:defRPr>
            </a:pPr>
            <a:r>
              <a:t>01  START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2990087"/>
            <a:ext cx="1636776" cy="731519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1300" b="0">
                <a:solidFill>
                  <a:srgbClr val="5F6975"/>
                </a:solidFill>
                <a:latin typeface="Inter"/>
              </a:defRPr>
            </a:pPr>
            <a:r>
              <a:t>Receive 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2852928"/>
            <a:ext cx="320040" cy="36576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>
              <a:defRPr sz="2200" b="1">
                <a:solidFill>
                  <a:srgbClr val="5F6975"/>
                </a:solidFill>
                <a:latin typeface="Inter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90088" y="2331720"/>
            <a:ext cx="1965960" cy="1508760"/>
          </a:xfrm>
          <a:prstGeom prst="roundRect">
            <a:avLst/>
          </a:prstGeom>
          <a:solidFill>
            <a:srgbClr val="E8F6EF"/>
          </a:solidFill>
          <a:ln>
            <a:solidFill>
              <a:srgbClr val="E5E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990088" y="2331720"/>
            <a:ext cx="1965960" cy="64008"/>
          </a:xfrm>
          <a:prstGeom prst="rect">
            <a:avLst/>
          </a:prstGeom>
          <a:solidFill>
            <a:srgbClr val="37A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154680" y="2532888"/>
            <a:ext cx="1636776" cy="4114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1800" b="1">
                <a:solidFill>
                  <a:srgbClr val="1D2430"/>
                </a:solidFill>
                <a:latin typeface="Space Grotesk"/>
              </a:defRPr>
            </a:pPr>
            <a:r>
              <a:t>02  NODE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54680" y="2990087"/>
            <a:ext cx="1636776" cy="731519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1300" b="0">
                <a:solidFill>
                  <a:srgbClr val="5F6975"/>
                </a:solidFill>
                <a:latin typeface="Inter"/>
              </a:defRPr>
            </a:pPr>
            <a:r>
              <a:t>Run a step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56048" y="2852928"/>
            <a:ext cx="320040" cy="36576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>
              <a:defRPr sz="2200" b="1">
                <a:solidFill>
                  <a:srgbClr val="5F6975"/>
                </a:solidFill>
                <a:latin typeface="Inter"/>
              </a:defRPr>
            </a:pPr>
            <a: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94376" y="2331720"/>
            <a:ext cx="1965960" cy="1508760"/>
          </a:xfrm>
          <a:prstGeom prst="roundRect">
            <a:avLst/>
          </a:prstGeom>
          <a:solidFill>
            <a:srgbClr val="FCF1E6"/>
          </a:solidFill>
          <a:ln>
            <a:solidFill>
              <a:srgbClr val="E5E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294376" y="2331720"/>
            <a:ext cx="1965960" cy="64008"/>
          </a:xfrm>
          <a:prstGeom prst="rect">
            <a:avLst/>
          </a:prstGeom>
          <a:solidFill>
            <a:srgbClr val="E891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58968" y="2532888"/>
            <a:ext cx="1636776" cy="4114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1800" b="1">
                <a:solidFill>
                  <a:srgbClr val="1D2430"/>
                </a:solidFill>
                <a:latin typeface="Space Grotesk"/>
              </a:defRPr>
            </a:pPr>
            <a:r>
              <a:t>03  STATE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58968" y="2990087"/>
            <a:ext cx="1636776" cy="731519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1300" b="0">
                <a:solidFill>
                  <a:srgbClr val="5F6975"/>
                </a:solidFill>
                <a:latin typeface="Inter"/>
              </a:defRPr>
            </a:pPr>
            <a:r>
              <a:t>Update shared data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0336" y="2852928"/>
            <a:ext cx="320040" cy="36576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>
              <a:defRPr sz="2200" b="1">
                <a:solidFill>
                  <a:srgbClr val="5F6975"/>
                </a:solidFill>
                <a:latin typeface="Inter"/>
              </a:defRPr>
            </a:pPr>
            <a: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98664" y="2331720"/>
            <a:ext cx="1965960" cy="1508760"/>
          </a:xfrm>
          <a:prstGeom prst="roundRect">
            <a:avLst/>
          </a:prstGeom>
          <a:solidFill>
            <a:srgbClr val="EBF3FC"/>
          </a:solidFill>
          <a:ln>
            <a:solidFill>
              <a:srgbClr val="E5E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598664" y="2331720"/>
            <a:ext cx="1965960" cy="64008"/>
          </a:xfrm>
          <a:prstGeom prst="rect">
            <a:avLst/>
          </a:prstGeom>
          <a:solidFill>
            <a:srgbClr val="4384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763256" y="2532888"/>
            <a:ext cx="1636776" cy="4114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1800" b="1">
                <a:solidFill>
                  <a:srgbClr val="1D2430"/>
                </a:solidFill>
                <a:latin typeface="Space Grotesk"/>
              </a:defRPr>
            </a:pPr>
            <a:r>
              <a:t>04  EDGE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63256" y="2990087"/>
            <a:ext cx="1636776" cy="731519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1300" b="0">
                <a:solidFill>
                  <a:srgbClr val="5F6975"/>
                </a:solidFill>
                <a:latin typeface="Inter"/>
              </a:defRPr>
            </a:pPr>
            <a:r>
              <a:t>Choose next step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64624" y="2852928"/>
            <a:ext cx="320040" cy="36576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>
              <a:defRPr sz="2200" b="1">
                <a:solidFill>
                  <a:srgbClr val="5F6975"/>
                </a:solidFill>
                <a:latin typeface="Inter"/>
              </a:defRPr>
            </a:pPr>
            <a: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902952" y="2331720"/>
            <a:ext cx="1965960" cy="1508760"/>
          </a:xfrm>
          <a:prstGeom prst="roundRect">
            <a:avLst/>
          </a:prstGeom>
          <a:solidFill>
            <a:srgbClr val="E8F6EF"/>
          </a:solidFill>
          <a:ln>
            <a:solidFill>
              <a:srgbClr val="E5E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9902952" y="2331720"/>
            <a:ext cx="1965960" cy="64008"/>
          </a:xfrm>
          <a:prstGeom prst="rect">
            <a:avLst/>
          </a:prstGeom>
          <a:solidFill>
            <a:srgbClr val="37A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067544" y="2532888"/>
            <a:ext cx="1636776" cy="4114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1800" b="1">
                <a:solidFill>
                  <a:srgbClr val="1D2430"/>
                </a:solidFill>
                <a:latin typeface="Space Grotesk"/>
              </a:defRPr>
            </a:pPr>
            <a:r>
              <a:t>05  END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67544" y="2990087"/>
            <a:ext cx="1636776" cy="731519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1300" b="0">
                <a:solidFill>
                  <a:srgbClr val="5F6975"/>
                </a:solidFill>
                <a:latin typeface="Inter"/>
              </a:defRPr>
            </a:pPr>
            <a:r>
              <a:t>Return result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4434840"/>
            <a:ext cx="10149840" cy="68580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>
              <a:defRPr sz="1700" b="1">
                <a:solidFill>
                  <a:srgbClr val="1D2430"/>
                </a:solidFill>
                <a:latin typeface="Space Grotesk"/>
              </a:defRPr>
            </a:pPr>
            <a:r>
              <a:rPr dirty="0"/>
              <a:t>If a node changes state, the next node can use that updated information.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5029200" cy="22860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900" b="1">
                <a:solidFill>
                  <a:srgbClr val="37A97D"/>
                </a:solidFill>
                <a:latin typeface="Inter"/>
              </a:defRPr>
            </a:pPr>
            <a:r>
              <a:t>LANGGRAPH • BRANCHING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49808"/>
            <a:ext cx="10789920" cy="59436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2700" b="1">
                <a:solidFill>
                  <a:srgbClr val="1D2430"/>
                </a:solidFill>
                <a:latin typeface="Space Grotesk"/>
              </a:defRPr>
            </a:pPr>
            <a:r>
              <a:t>Conditional routing: choose the next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389888"/>
            <a:ext cx="10607040" cy="38404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1300" b="0">
                <a:solidFill>
                  <a:srgbClr val="5F6975"/>
                </a:solidFill>
                <a:latin typeface="Inter"/>
              </a:defRPr>
            </a:pPr>
            <a:r>
              <a:t>A conditional edge lets the workflow take different paths based on the current state.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473952"/>
            <a:ext cx="5303520" cy="16459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700" b="1">
                <a:solidFill>
                  <a:srgbClr val="5F6975"/>
                </a:solidFill>
                <a:latin typeface="Inter"/>
              </a:defRPr>
            </a:pPr>
            <a:r>
              <a:t>AIYATRA • LANGGRAPH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473952"/>
            <a:ext cx="822960" cy="16459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148840"/>
            <a:ext cx="2331720" cy="1417320"/>
          </a:xfrm>
          <a:prstGeom prst="roundRect">
            <a:avLst/>
          </a:prstGeom>
          <a:solidFill>
            <a:srgbClr val="EBF3FC"/>
          </a:solidFill>
          <a:ln>
            <a:solidFill>
              <a:srgbClr val="E5E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2148840"/>
            <a:ext cx="2331720" cy="64008"/>
          </a:xfrm>
          <a:prstGeom prst="rect">
            <a:avLst/>
          </a:prstGeom>
          <a:solidFill>
            <a:srgbClr val="4384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87552" y="2350008"/>
            <a:ext cx="2002536" cy="4114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1800" b="1">
                <a:solidFill>
                  <a:srgbClr val="1D2430"/>
                </a:solidFill>
                <a:latin typeface="Space Grotesk"/>
              </a:defRPr>
            </a:pPr>
            <a:r>
              <a:t>User 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2807208"/>
            <a:ext cx="2002536" cy="6400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1300" b="0">
                <a:solidFill>
                  <a:srgbClr val="5F6975"/>
                </a:solidFill>
                <a:latin typeface="Inter"/>
              </a:defRPr>
            </a:pPr>
            <a:r>
              <a:t>Input enters the graph.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2633472"/>
            <a:ext cx="411480" cy="36576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>
              <a:defRPr sz="2300" b="1">
                <a:solidFill>
                  <a:srgbClr val="5F6975"/>
                </a:solidFill>
                <a:latin typeface="Inter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0" y="2148840"/>
            <a:ext cx="2468880" cy="1417320"/>
          </a:xfrm>
          <a:prstGeom prst="roundRect">
            <a:avLst/>
          </a:prstGeom>
          <a:solidFill>
            <a:srgbClr val="E8F6EF"/>
          </a:solidFill>
          <a:ln>
            <a:solidFill>
              <a:srgbClr val="E5E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0" y="2148840"/>
            <a:ext cx="2468880" cy="64008"/>
          </a:xfrm>
          <a:prstGeom prst="rect">
            <a:avLst/>
          </a:prstGeom>
          <a:solidFill>
            <a:srgbClr val="37A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822191" y="2350008"/>
            <a:ext cx="2139696" cy="4114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1800" b="1">
                <a:solidFill>
                  <a:srgbClr val="1D2430"/>
                </a:solidFill>
                <a:latin typeface="Space Grotesk"/>
              </a:defRPr>
            </a:pPr>
            <a:r>
              <a:t>Router node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22191" y="2807208"/>
            <a:ext cx="2139696" cy="6400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1300" b="0">
                <a:solidFill>
                  <a:srgbClr val="5F6975"/>
                </a:solidFill>
                <a:latin typeface="Inter"/>
              </a:defRPr>
            </a:pPr>
            <a:r>
              <a:t>Check what the request needs.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2633472"/>
            <a:ext cx="457200" cy="36576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>
              <a:defRPr sz="2000" b="1">
                <a:solidFill>
                  <a:srgbClr val="5F6975"/>
                </a:solidFill>
                <a:latin typeface="Inter"/>
              </a:defRPr>
            </a:pPr>
            <a:r>
              <a:t>↙  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20840" y="1783080"/>
            <a:ext cx="2057400" cy="1234440"/>
          </a:xfrm>
          <a:prstGeom prst="roundRect">
            <a:avLst/>
          </a:prstGeom>
          <a:solidFill>
            <a:srgbClr val="EBF3FC"/>
          </a:solidFill>
          <a:ln>
            <a:solidFill>
              <a:srgbClr val="E5E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720840" y="1783080"/>
            <a:ext cx="2057400" cy="64008"/>
          </a:xfrm>
          <a:prstGeom prst="rect">
            <a:avLst/>
          </a:prstGeom>
          <a:solidFill>
            <a:srgbClr val="4384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885431" y="1984248"/>
            <a:ext cx="1728216" cy="4114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1800" b="1">
                <a:solidFill>
                  <a:srgbClr val="1D2430"/>
                </a:solidFill>
                <a:latin typeface="Space Grotesk"/>
              </a:defRPr>
            </a:pPr>
            <a:r>
              <a:t>Retrieve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85431" y="2441448"/>
            <a:ext cx="1728216" cy="45720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1300" b="0">
                <a:solidFill>
                  <a:srgbClr val="5F6975"/>
                </a:solidFill>
                <a:latin typeface="Inter"/>
              </a:defRPr>
            </a:pPr>
            <a:r>
              <a:t>If knowledge is needed.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20840" y="3337560"/>
            <a:ext cx="2057400" cy="1234440"/>
          </a:xfrm>
          <a:prstGeom prst="roundRect">
            <a:avLst/>
          </a:prstGeom>
          <a:solidFill>
            <a:srgbClr val="FCF1E6"/>
          </a:solidFill>
          <a:ln>
            <a:solidFill>
              <a:srgbClr val="E5E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720840" y="3337560"/>
            <a:ext cx="2057400" cy="64008"/>
          </a:xfrm>
          <a:prstGeom prst="rect">
            <a:avLst/>
          </a:prstGeom>
          <a:solidFill>
            <a:srgbClr val="E891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885431" y="3538728"/>
            <a:ext cx="1728216" cy="4114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1800" b="1">
                <a:solidFill>
                  <a:srgbClr val="1D2430"/>
                </a:solidFill>
                <a:latin typeface="Space Grotesk"/>
              </a:defRPr>
            </a:pPr>
            <a:r>
              <a:t>Tool / direct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85431" y="3995928"/>
            <a:ext cx="1728216" cy="45720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1300" b="0">
                <a:solidFill>
                  <a:srgbClr val="5F6975"/>
                </a:solidFill>
                <a:latin typeface="Inter"/>
              </a:defRPr>
            </a:pPr>
            <a:r>
              <a:t>If another action fits.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15400" y="2633472"/>
            <a:ext cx="365760" cy="36576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>
              <a:defRPr sz="2200" b="1">
                <a:solidFill>
                  <a:srgbClr val="5F6975"/>
                </a:solidFill>
                <a:latin typeface="Inter"/>
              </a:defRPr>
            </a:pPr>
            <a: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281160" y="2423160"/>
            <a:ext cx="2057400" cy="1417320"/>
          </a:xfrm>
          <a:prstGeom prst="roundRect">
            <a:avLst/>
          </a:prstGeom>
          <a:solidFill>
            <a:srgbClr val="E8F6EF"/>
          </a:solidFill>
          <a:ln>
            <a:solidFill>
              <a:srgbClr val="E5E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9281160" y="2423160"/>
            <a:ext cx="2057400" cy="64008"/>
          </a:xfrm>
          <a:prstGeom prst="rect">
            <a:avLst/>
          </a:prstGeom>
          <a:solidFill>
            <a:srgbClr val="37A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445752" y="2624328"/>
            <a:ext cx="1728216" cy="4114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1800" b="1">
                <a:solidFill>
                  <a:srgbClr val="1D2430"/>
                </a:solidFill>
                <a:latin typeface="Space Grotesk"/>
              </a:defRPr>
            </a:pPr>
            <a:r>
              <a:t>Answer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5752" y="3081528"/>
            <a:ext cx="1728216" cy="6400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1300" b="0">
                <a:solidFill>
                  <a:srgbClr val="5F6975"/>
                </a:solidFill>
                <a:latin typeface="Inter"/>
              </a:defRPr>
            </a:pPr>
            <a:r>
              <a:t>Return final response.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4892040"/>
            <a:ext cx="10058400" cy="5029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>
              <a:defRPr sz="1400" b="0">
                <a:solidFill>
                  <a:srgbClr val="5F6975"/>
                </a:solidFill>
                <a:latin typeface="Inter"/>
              </a:defRPr>
            </a:pPr>
            <a:r>
              <a:t>Example: route a document question to retrieval; route a simple greeting directly to the model.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5029200" cy="22860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900" b="1">
                <a:solidFill>
                  <a:srgbClr val="37A97D"/>
                </a:solidFill>
                <a:latin typeface="Inter"/>
              </a:defRPr>
            </a:pPr>
            <a:r>
              <a:t>LANGGRAPH •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49808"/>
            <a:ext cx="10789920" cy="59436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2700" b="1">
                <a:solidFill>
                  <a:srgbClr val="1D2430"/>
                </a:solidFill>
                <a:latin typeface="Space Grotesk"/>
              </a:defRPr>
            </a:pPr>
            <a:r>
              <a:t>Tools and agent loops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389888"/>
            <a:ext cx="10607040" cy="252377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1300" b="0">
                <a:solidFill>
                  <a:srgbClr val="5F6975"/>
                </a:solidFill>
                <a:latin typeface="Inter"/>
              </a:defRPr>
            </a:pPr>
            <a:r>
              <a:rPr sz="1400" dirty="0"/>
              <a:t>An agent can decide whether to answer or call a tool, then continue from the tool result.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473952"/>
            <a:ext cx="5303520" cy="16459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700" b="1">
                <a:solidFill>
                  <a:srgbClr val="5F6975"/>
                </a:solidFill>
                <a:latin typeface="Inter"/>
              </a:defRPr>
            </a:pPr>
            <a:r>
              <a:t>AIYATRA • LANGGRAPH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473952"/>
            <a:ext cx="822960" cy="16459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240280" cy="1508760"/>
          </a:xfrm>
          <a:prstGeom prst="roundRect">
            <a:avLst/>
          </a:prstGeom>
          <a:solidFill>
            <a:srgbClr val="EBF3FC"/>
          </a:solidFill>
          <a:ln>
            <a:solidFill>
              <a:srgbClr val="E5E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240280" cy="64008"/>
          </a:xfrm>
          <a:prstGeom prst="rect">
            <a:avLst/>
          </a:prstGeom>
          <a:solidFill>
            <a:srgbClr val="4384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41832" y="2350008"/>
            <a:ext cx="1911096" cy="4114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1800" b="1">
                <a:solidFill>
                  <a:srgbClr val="1D2430"/>
                </a:solidFill>
                <a:latin typeface="Space Grotesk"/>
              </a:defRPr>
            </a:pPr>
            <a:r>
              <a:t>Model node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807208"/>
            <a:ext cx="1911096" cy="252377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1300" b="0">
                <a:solidFill>
                  <a:srgbClr val="5F6975"/>
                </a:solidFill>
                <a:latin typeface="Inter"/>
              </a:defRPr>
            </a:pPr>
            <a:r>
              <a:rPr sz="1400" dirty="0"/>
              <a:t>Decides the next action.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35808" y="2670048"/>
            <a:ext cx="411480" cy="36576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>
              <a:defRPr sz="2200" b="1">
                <a:solidFill>
                  <a:srgbClr val="5F6975"/>
                </a:solidFill>
                <a:latin typeface="Inter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2148840"/>
            <a:ext cx="2331720" cy="1508760"/>
          </a:xfrm>
          <a:prstGeom prst="roundRect">
            <a:avLst/>
          </a:prstGeom>
          <a:solidFill>
            <a:srgbClr val="E8F6EF"/>
          </a:solidFill>
          <a:ln>
            <a:solidFill>
              <a:srgbClr val="E5E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474720" y="2148840"/>
            <a:ext cx="2331720" cy="64008"/>
          </a:xfrm>
          <a:prstGeom prst="rect">
            <a:avLst/>
          </a:prstGeom>
          <a:solidFill>
            <a:srgbClr val="37A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39312" y="2350008"/>
            <a:ext cx="2002536" cy="4114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1800" b="1">
                <a:solidFill>
                  <a:srgbClr val="1D2430"/>
                </a:solidFill>
                <a:latin typeface="Space Grotesk"/>
              </a:defRPr>
            </a:pPr>
            <a:r>
              <a:t>Tool node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9312" y="2807208"/>
            <a:ext cx="2002536" cy="252377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1300" b="0">
                <a:solidFill>
                  <a:srgbClr val="5F6975"/>
                </a:solidFill>
                <a:latin typeface="Inter"/>
              </a:defRPr>
            </a:pPr>
            <a:r>
              <a:rPr sz="1400" dirty="0"/>
              <a:t>Executes a selected tool.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33872" y="2670048"/>
            <a:ext cx="411480" cy="36576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>
              <a:defRPr sz="2200" b="1">
                <a:solidFill>
                  <a:srgbClr val="5F6975"/>
                </a:solidFill>
                <a:latin typeface="Inter"/>
              </a:defRPr>
            </a:pPr>
            <a: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2148840"/>
            <a:ext cx="2331720" cy="1508760"/>
          </a:xfrm>
          <a:prstGeom prst="roundRect">
            <a:avLst/>
          </a:prstGeom>
          <a:solidFill>
            <a:srgbClr val="FCF1E6"/>
          </a:solidFill>
          <a:ln>
            <a:solidFill>
              <a:srgbClr val="E5E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263640" y="2148840"/>
            <a:ext cx="2331720" cy="64008"/>
          </a:xfrm>
          <a:prstGeom prst="rect">
            <a:avLst/>
          </a:prstGeom>
          <a:solidFill>
            <a:srgbClr val="E891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28231" y="2350008"/>
            <a:ext cx="2002536" cy="4114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1800" b="1">
                <a:solidFill>
                  <a:srgbClr val="1D2430"/>
                </a:solidFill>
                <a:latin typeface="Space Grotesk"/>
              </a:defRPr>
            </a:pPr>
            <a:r>
              <a:t>Tool result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28231" y="2807208"/>
            <a:ext cx="2002536" cy="252377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1300" b="0">
                <a:solidFill>
                  <a:srgbClr val="5F6975"/>
                </a:solidFill>
                <a:latin typeface="Inter"/>
              </a:defRPr>
            </a:pPr>
            <a:r>
              <a:rPr sz="1400" dirty="0"/>
              <a:t>Adds output to state.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22792" y="2670048"/>
            <a:ext cx="411480" cy="36576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>
              <a:defRPr sz="2200" b="1">
                <a:solidFill>
                  <a:srgbClr val="5F6975"/>
                </a:solidFill>
                <a:latin typeface="Inter"/>
              </a:defRPr>
            </a:pPr>
            <a:r>
              <a:t>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52560" y="2148840"/>
            <a:ext cx="233172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E5E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052560" y="2148840"/>
            <a:ext cx="2331720" cy="64008"/>
          </a:xfrm>
          <a:prstGeom prst="rect">
            <a:avLst/>
          </a:prstGeom>
          <a:solidFill>
            <a:srgbClr val="4384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217152" y="2350008"/>
            <a:ext cx="2002536" cy="4114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1800" b="1">
                <a:solidFill>
                  <a:srgbClr val="1D2430"/>
                </a:solidFill>
                <a:latin typeface="Space Grotesk"/>
              </a:defRPr>
            </a:pPr>
            <a:r>
              <a:t>Model again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17152" y="2807208"/>
            <a:ext cx="2002536" cy="252377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1300" b="0">
                <a:solidFill>
                  <a:srgbClr val="5F6975"/>
                </a:solidFill>
                <a:latin typeface="Inter"/>
              </a:defRPr>
            </a:pPr>
            <a:r>
              <a:rPr sz="1400" dirty="0"/>
              <a:t>Use result or finish.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434840"/>
            <a:ext cx="10058400" cy="267766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>
              <a:defRPr sz="1500" b="1">
                <a:solidFill>
                  <a:srgbClr val="1D2430"/>
                </a:solidFill>
                <a:latin typeface="Space Grotesk"/>
              </a:defRPr>
            </a:pPr>
            <a:r>
              <a:rPr dirty="0"/>
              <a:t>Loop: model → tool → result → model. A stopping condition ends the loop when the answer is ready.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5029200" cy="22860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900" b="1">
                <a:solidFill>
                  <a:srgbClr val="37A97D"/>
                </a:solidFill>
                <a:latin typeface="Inter"/>
              </a:defRPr>
            </a:pPr>
            <a:r>
              <a:t>LANGGRAPH • PRODUCTION PATTERNS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49808"/>
            <a:ext cx="10789920" cy="59436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2700" b="1">
                <a:solidFill>
                  <a:srgbClr val="1D2430"/>
                </a:solidFill>
                <a:latin typeface="Space Grotesk"/>
              </a:defRPr>
            </a:pPr>
            <a:r>
              <a:t>Human approval, retries, and reliability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389888"/>
            <a:ext cx="10607040" cy="252377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1300" b="0">
                <a:solidFill>
                  <a:srgbClr val="5F6975"/>
                </a:solidFill>
                <a:latin typeface="Inter"/>
              </a:defRPr>
            </a:pPr>
            <a:r>
              <a:rPr sz="1400" dirty="0"/>
              <a:t>Graph workflows can make checkpoints and recovery paths part of the design.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473952"/>
            <a:ext cx="5303520" cy="16459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700" b="1">
                <a:solidFill>
                  <a:srgbClr val="5F6975"/>
                </a:solidFill>
                <a:latin typeface="Inter"/>
              </a:defRPr>
            </a:pPr>
            <a:r>
              <a:t>AIYATRA • LANGGRAPH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473952"/>
            <a:ext cx="822960" cy="16459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r>
              <a:t>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3337560" cy="1645920"/>
          </a:xfrm>
          <a:prstGeom prst="roundRect">
            <a:avLst/>
          </a:prstGeom>
          <a:solidFill>
            <a:srgbClr val="EBF3FC"/>
          </a:solidFill>
          <a:ln>
            <a:solidFill>
              <a:srgbClr val="E5E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3337560" cy="64008"/>
          </a:xfrm>
          <a:prstGeom prst="rect">
            <a:avLst/>
          </a:prstGeom>
          <a:solidFill>
            <a:srgbClr val="4384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41832" y="2350008"/>
            <a:ext cx="3008376" cy="4114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1800" b="1">
                <a:solidFill>
                  <a:srgbClr val="1D2430"/>
                </a:solidFill>
                <a:latin typeface="Space Grotesk"/>
              </a:defRPr>
            </a:pPr>
            <a:r>
              <a:t>Human-in-the-loop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807208"/>
            <a:ext cx="3008376" cy="4678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1300" b="0">
                <a:solidFill>
                  <a:srgbClr val="5F6975"/>
                </a:solidFill>
                <a:latin typeface="Inter"/>
              </a:defRPr>
            </a:pPr>
            <a:r>
              <a:rPr sz="1400" dirty="0"/>
              <a:t>Pause before a sensitive action; let a person approve, edit, or reject.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148840"/>
            <a:ext cx="3337560" cy="1645920"/>
          </a:xfrm>
          <a:prstGeom prst="roundRect">
            <a:avLst/>
          </a:prstGeom>
          <a:solidFill>
            <a:srgbClr val="FCF1E6"/>
          </a:solidFill>
          <a:ln>
            <a:solidFill>
              <a:srgbClr val="E5E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337560" cy="64008"/>
          </a:xfrm>
          <a:prstGeom prst="rect">
            <a:avLst/>
          </a:prstGeom>
          <a:solidFill>
            <a:srgbClr val="E891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99431" y="2350008"/>
            <a:ext cx="3008376" cy="4114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1800" b="1">
                <a:solidFill>
                  <a:srgbClr val="1D2430"/>
                </a:solidFill>
                <a:latin typeface="Space Grotesk"/>
              </a:defRPr>
            </a:pPr>
            <a:r>
              <a:t>Retry path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1" y="2807208"/>
            <a:ext cx="3008376" cy="4678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1300" b="0">
                <a:solidFill>
                  <a:srgbClr val="5F6975"/>
                </a:solidFill>
                <a:latin typeface="Inter"/>
              </a:defRPr>
            </a:pPr>
            <a:r>
              <a:rPr sz="1400" dirty="0"/>
              <a:t>If a step fails or output is weak, route to retry or another strategy.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2148840"/>
            <a:ext cx="3337560" cy="1645920"/>
          </a:xfrm>
          <a:prstGeom prst="roundRect">
            <a:avLst/>
          </a:prstGeom>
          <a:solidFill>
            <a:srgbClr val="E8F6EF"/>
          </a:solidFill>
          <a:ln>
            <a:solidFill>
              <a:srgbClr val="E5E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092440" y="2148840"/>
            <a:ext cx="3337560" cy="64008"/>
          </a:xfrm>
          <a:prstGeom prst="rect">
            <a:avLst/>
          </a:prstGeom>
          <a:solidFill>
            <a:srgbClr val="37A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57031" y="2350008"/>
            <a:ext cx="3008376" cy="4114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1800" b="1">
                <a:solidFill>
                  <a:srgbClr val="1D2430"/>
                </a:solidFill>
                <a:latin typeface="Space Grotesk"/>
              </a:defRPr>
            </a:pPr>
            <a:r>
              <a:t>Checkpointing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57031" y="2807208"/>
            <a:ext cx="3008376" cy="4678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1300" b="0">
                <a:solidFill>
                  <a:srgbClr val="5F6975"/>
                </a:solidFill>
                <a:latin typeface="Inter"/>
              </a:defRPr>
            </a:pPr>
            <a:r>
              <a:rPr sz="1400" dirty="0"/>
              <a:t>Persist workflow state so execution can resume from a saved point.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572000"/>
            <a:ext cx="10058400" cy="283154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>
              <a:defRPr sz="1600" b="1">
                <a:solidFill>
                  <a:srgbClr val="1D2430"/>
                </a:solidFill>
                <a:latin typeface="Space Grotesk"/>
              </a:defRPr>
            </a:pPr>
            <a:r>
              <a:rPr dirty="0"/>
              <a:t>Use these patterns when workflows are long-running, risky, or need review.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5029200" cy="22860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900" b="1">
                <a:solidFill>
                  <a:srgbClr val="37A97D"/>
                </a:solidFill>
                <a:latin typeface="Inter"/>
              </a:defRPr>
            </a:pPr>
            <a:r>
              <a:t>LANGGRAPH • USE CASES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49808"/>
            <a:ext cx="10789920" cy="59436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2700" b="1">
                <a:solidFill>
                  <a:srgbClr val="1D2430"/>
                </a:solidFill>
                <a:latin typeface="Space Grotesk"/>
              </a:defRPr>
            </a:pPr>
            <a:r>
              <a:t>Where LangGraph is useful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389888"/>
            <a:ext cx="10607040" cy="252377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1300" b="0">
                <a:solidFill>
                  <a:srgbClr val="5F6975"/>
                </a:solidFill>
                <a:latin typeface="Inter"/>
              </a:defRPr>
            </a:pPr>
            <a:r>
              <a:rPr sz="1400" dirty="0"/>
              <a:t>Use a graph when an application needs more than a single linear model call.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473952"/>
            <a:ext cx="5303520" cy="16459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700" b="1">
                <a:solidFill>
                  <a:srgbClr val="5F6975"/>
                </a:solidFill>
                <a:latin typeface="Inter"/>
              </a:defRPr>
            </a:pPr>
            <a:r>
              <a:t>AIYATRA • LANGGRAPH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473952"/>
            <a:ext cx="822960" cy="16459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r>
              <a:t>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057400"/>
            <a:ext cx="3337560" cy="1417320"/>
          </a:xfrm>
          <a:prstGeom prst="roundRect">
            <a:avLst/>
          </a:prstGeom>
          <a:solidFill>
            <a:srgbClr val="EBF3FC"/>
          </a:solidFill>
          <a:ln>
            <a:solidFill>
              <a:srgbClr val="E5E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77240" y="2057400"/>
            <a:ext cx="3337560" cy="64008"/>
          </a:xfrm>
          <a:prstGeom prst="rect">
            <a:avLst/>
          </a:prstGeom>
          <a:solidFill>
            <a:srgbClr val="4384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41832" y="2258568"/>
            <a:ext cx="3008376" cy="4114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1800" b="1">
                <a:solidFill>
                  <a:srgbClr val="1D2430"/>
                </a:solidFill>
                <a:latin typeface="Space Grotesk"/>
              </a:defRPr>
            </a:pPr>
            <a:r>
              <a:t>RAG with fallback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715768"/>
            <a:ext cx="3008376" cy="4678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1300" b="0">
                <a:solidFill>
                  <a:srgbClr val="5F6975"/>
                </a:solidFill>
                <a:latin typeface="Inter"/>
              </a:defRPr>
            </a:pPr>
            <a:r>
              <a:rPr sz="1400" dirty="0"/>
              <a:t>Retrieve → evaluate context → retry or answer.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057400"/>
            <a:ext cx="3337560" cy="1417320"/>
          </a:xfrm>
          <a:prstGeom prst="roundRect">
            <a:avLst/>
          </a:prstGeom>
          <a:solidFill>
            <a:srgbClr val="E8F6EF"/>
          </a:solidFill>
          <a:ln>
            <a:solidFill>
              <a:srgbClr val="E5E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434840" y="2057400"/>
            <a:ext cx="3337560" cy="64008"/>
          </a:xfrm>
          <a:prstGeom prst="rect">
            <a:avLst/>
          </a:prstGeom>
          <a:solidFill>
            <a:srgbClr val="37A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99431" y="2258568"/>
            <a:ext cx="3008376" cy="4114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1800" b="1">
                <a:solidFill>
                  <a:srgbClr val="1D2430"/>
                </a:solidFill>
                <a:latin typeface="Space Grotesk"/>
              </a:defRPr>
            </a:pPr>
            <a:r>
              <a:t>Multi-tool agent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1" y="2715768"/>
            <a:ext cx="3008376" cy="4678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1300" b="0">
                <a:solidFill>
                  <a:srgbClr val="5F6975"/>
                </a:solidFill>
                <a:latin typeface="Inter"/>
              </a:defRPr>
            </a:pPr>
            <a:r>
              <a:rPr sz="1400" dirty="0"/>
              <a:t>Choose tools, execute actions, and loop over results.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2057400"/>
            <a:ext cx="3337560" cy="1417320"/>
          </a:xfrm>
          <a:prstGeom prst="roundRect">
            <a:avLst/>
          </a:prstGeom>
          <a:solidFill>
            <a:srgbClr val="FCF1E6"/>
          </a:solidFill>
          <a:ln>
            <a:solidFill>
              <a:srgbClr val="E5E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092440" y="2057400"/>
            <a:ext cx="3337560" cy="64008"/>
          </a:xfrm>
          <a:prstGeom prst="rect">
            <a:avLst/>
          </a:prstGeom>
          <a:solidFill>
            <a:srgbClr val="E891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57031" y="2258568"/>
            <a:ext cx="3008376" cy="4114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1800" b="1">
                <a:solidFill>
                  <a:srgbClr val="1D2430"/>
                </a:solidFill>
                <a:latin typeface="Space Grotesk"/>
              </a:defRPr>
            </a:pPr>
            <a:r>
              <a:t>Approval workflow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57031" y="2715768"/>
            <a:ext cx="3008376" cy="4678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1300" b="0">
                <a:solidFill>
                  <a:srgbClr val="5F6975"/>
                </a:solidFill>
                <a:latin typeface="Inter"/>
              </a:defRPr>
            </a:pPr>
            <a:r>
              <a:rPr sz="1400" dirty="0"/>
              <a:t>Draft an action → human review → continue or stop.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3794760"/>
            <a:ext cx="3337560" cy="1417320"/>
          </a:xfrm>
          <a:prstGeom prst="roundRect">
            <a:avLst/>
          </a:prstGeom>
          <a:solidFill>
            <a:srgbClr val="E8F6EF"/>
          </a:solidFill>
          <a:ln>
            <a:solidFill>
              <a:srgbClr val="E5E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77240" y="3794760"/>
            <a:ext cx="3337560" cy="64008"/>
          </a:xfrm>
          <a:prstGeom prst="rect">
            <a:avLst/>
          </a:prstGeom>
          <a:solidFill>
            <a:srgbClr val="37A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41832" y="3995928"/>
            <a:ext cx="3008376" cy="4114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1800" b="1">
                <a:solidFill>
                  <a:srgbClr val="1D2430"/>
                </a:solidFill>
                <a:latin typeface="Space Grotesk"/>
              </a:defRPr>
            </a:pPr>
            <a:r>
              <a:t>Support assistant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2" y="4453128"/>
            <a:ext cx="3008376" cy="4678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1300" b="0">
                <a:solidFill>
                  <a:srgbClr val="5F6975"/>
                </a:solidFill>
                <a:latin typeface="Inter"/>
              </a:defRPr>
            </a:pPr>
            <a:r>
              <a:rPr sz="1400" dirty="0"/>
              <a:t>Route billing, technical, or account questions to different paths.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34840" y="3794760"/>
            <a:ext cx="3337560" cy="1417320"/>
          </a:xfrm>
          <a:prstGeom prst="roundRect">
            <a:avLst/>
          </a:prstGeom>
          <a:solidFill>
            <a:srgbClr val="FCF1E6"/>
          </a:solidFill>
          <a:ln>
            <a:solidFill>
              <a:srgbClr val="E5E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434840" y="3794760"/>
            <a:ext cx="3337560" cy="64008"/>
          </a:xfrm>
          <a:prstGeom prst="rect">
            <a:avLst/>
          </a:prstGeom>
          <a:solidFill>
            <a:srgbClr val="E891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99431" y="3995928"/>
            <a:ext cx="3008376" cy="4114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1800" b="1">
                <a:solidFill>
                  <a:srgbClr val="1D2430"/>
                </a:solidFill>
                <a:latin typeface="Space Grotesk"/>
              </a:defRPr>
            </a:pPr>
            <a:r>
              <a:t>Research workflow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99431" y="4453128"/>
            <a:ext cx="3008376" cy="252377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1300" b="0">
                <a:solidFill>
                  <a:srgbClr val="5F6975"/>
                </a:solidFill>
                <a:latin typeface="Inter"/>
              </a:defRPr>
            </a:pPr>
            <a:r>
              <a:rPr sz="1400" dirty="0"/>
              <a:t>Plan → search → summarize → verify.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92440" y="3794760"/>
            <a:ext cx="3337560" cy="1417320"/>
          </a:xfrm>
          <a:prstGeom prst="roundRect">
            <a:avLst/>
          </a:prstGeom>
          <a:solidFill>
            <a:srgbClr val="EBF3FC"/>
          </a:solidFill>
          <a:ln>
            <a:solidFill>
              <a:srgbClr val="E5E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8092440" y="3794760"/>
            <a:ext cx="3337560" cy="64008"/>
          </a:xfrm>
          <a:prstGeom prst="rect">
            <a:avLst/>
          </a:prstGeom>
          <a:solidFill>
            <a:srgbClr val="4384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257031" y="3995928"/>
            <a:ext cx="3008376" cy="4114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1800" b="1">
                <a:solidFill>
                  <a:srgbClr val="1D2430"/>
                </a:solidFill>
                <a:latin typeface="Space Grotesk"/>
              </a:defRPr>
            </a:pPr>
            <a:r>
              <a:t>Data processing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57031" y="4453128"/>
            <a:ext cx="3008376" cy="4678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1300" b="0">
                <a:solidFill>
                  <a:srgbClr val="5F6975"/>
                </a:solidFill>
                <a:latin typeface="Inter"/>
              </a:defRPr>
            </a:pPr>
            <a:r>
              <a:rPr sz="1400" dirty="0"/>
              <a:t>Validate → transform → handle errors → produce output.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00" b="1">
                <a:solidFill>
                  <a:srgbClr val="2A5BD7"/>
                </a:solidFill>
                <a:latin typeface="Inter"/>
              </a:defRPr>
            </a:pPr>
            <a:r>
              <a:t>06 ·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3000" b="1">
                <a:solidFill>
                  <a:srgbClr val="191C21"/>
                </a:solidFill>
                <a:latin typeface="Space Grotesk"/>
              </a:defRPr>
            </a:pPr>
            <a:r>
              <a:t>LangChain vs LangGraph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207008"/>
            <a:ext cx="1097280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300" b="0">
                <a:solidFill>
                  <a:srgbClr val="646C76"/>
                </a:solidFill>
                <a:latin typeface="Inter"/>
              </a:defRPr>
            </a:pPr>
            <a:r>
              <a:rPr sz="1400" dirty="0"/>
              <a:t>They complement each other; they are not competing frameworks.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510528"/>
            <a:ext cx="7315200" cy="1231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00" b="0">
                <a:solidFill>
                  <a:srgbClr val="646C76"/>
                </a:solidFill>
                <a:latin typeface="Inter"/>
              </a:defRPr>
            </a:pPr>
            <a:r>
              <a:rPr dirty="0" err="1"/>
              <a:t>AIYatra</a:t>
            </a:r>
            <a:r>
              <a:rPr dirty="0"/>
              <a:t> 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73952"/>
            <a:ext cx="5029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t>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74519"/>
            <a:ext cx="3429000" cy="2331720"/>
          </a:xfrm>
          <a:prstGeom prst="round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874519"/>
            <a:ext cx="54864" cy="2331720"/>
          </a:xfrm>
          <a:prstGeom prst="rect">
            <a:avLst/>
          </a:prstGeom>
          <a:solidFill>
            <a:srgbClr val="2A5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41247" y="2039112"/>
            <a:ext cx="304495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600" b="1">
                <a:solidFill>
                  <a:srgbClr val="191C21"/>
                </a:solidFill>
                <a:latin typeface="Space Grotesk"/>
              </a:defRPr>
            </a:pPr>
            <a:r>
              <a:t>LangChain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2441448"/>
            <a:ext cx="3044952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200" b="0">
                <a:solidFill>
                  <a:srgbClr val="646C76"/>
                </a:solidFill>
                <a:latin typeface="Inter"/>
              </a:defRPr>
            </a:pPr>
            <a:r>
              <a:rPr sz="1400" dirty="0"/>
              <a:t>Components:</a:t>
            </a:r>
          </a:p>
          <a:p>
            <a:pPr algn="l">
              <a:defRPr sz="1200" b="0">
                <a:solidFill>
                  <a:srgbClr val="646C76"/>
                </a:solidFill>
                <a:latin typeface="Inter"/>
              </a:defRPr>
            </a:pPr>
            <a:r>
              <a:rPr sz="1400" dirty="0"/>
              <a:t>models, prompts, retrieval, tools</a:t>
            </a:r>
            <a:r>
              <a:rPr dirty="0"/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874519"/>
            <a:ext cx="3429000" cy="2331720"/>
          </a:xfrm>
          <a:prstGeom prst="round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89120" y="1874519"/>
            <a:ext cx="54864" cy="2331720"/>
          </a:xfrm>
          <a:prstGeom prst="rect">
            <a:avLst/>
          </a:prstGeom>
          <a:solidFill>
            <a:srgbClr val="2382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90288" y="2039112"/>
            <a:ext cx="304495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600" b="1">
                <a:solidFill>
                  <a:srgbClr val="191C21"/>
                </a:solidFill>
                <a:latin typeface="Space Grotesk"/>
              </a:defRPr>
            </a:pPr>
            <a:r>
              <a:t>LangGraph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2441448"/>
            <a:ext cx="3044952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200" b="0">
                <a:solidFill>
                  <a:srgbClr val="646C76"/>
                </a:solidFill>
                <a:latin typeface="Inter"/>
              </a:defRPr>
            </a:pPr>
            <a:r>
              <a:rPr sz="1400" dirty="0"/>
              <a:t>Workflow:</a:t>
            </a:r>
          </a:p>
          <a:p>
            <a:pPr algn="l">
              <a:defRPr sz="1200" b="0">
                <a:solidFill>
                  <a:srgbClr val="646C76"/>
                </a:solidFill>
                <a:latin typeface="Inter"/>
              </a:defRPr>
            </a:pPr>
            <a:r>
              <a:rPr sz="1400" dirty="0"/>
              <a:t>state, nodes, edges, branching, loops.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874519"/>
            <a:ext cx="3429000" cy="2331720"/>
          </a:xfrm>
          <a:prstGeom prst="round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138160" y="1874519"/>
            <a:ext cx="54864" cy="2331720"/>
          </a:xfrm>
          <a:prstGeom prst="rect">
            <a:avLst/>
          </a:prstGeom>
          <a:solidFill>
            <a:srgbClr val="14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39328" y="2039112"/>
            <a:ext cx="304495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600" b="1">
                <a:solidFill>
                  <a:srgbClr val="191C21"/>
                </a:solidFill>
                <a:latin typeface="Space Grotesk"/>
              </a:defRPr>
            </a:pPr>
            <a:r>
              <a:t>Together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9328" y="2441448"/>
            <a:ext cx="3044952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200" b="0">
                <a:solidFill>
                  <a:srgbClr val="646C76"/>
                </a:solidFill>
                <a:latin typeface="Inter"/>
              </a:defRPr>
            </a:pPr>
            <a:r>
              <a:rPr sz="1400" dirty="0"/>
              <a:t>Use </a:t>
            </a:r>
            <a:r>
              <a:rPr sz="1400" dirty="0" err="1"/>
              <a:t>LangChain</a:t>
            </a:r>
            <a:r>
              <a:rPr sz="1400" dirty="0"/>
              <a:t> components inside controlled workflows.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754880"/>
            <a:ext cx="105156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300" b="0">
                <a:solidFill>
                  <a:srgbClr val="646C76"/>
                </a:solidFill>
                <a:latin typeface="Inter"/>
              </a:defRPr>
            </a:pPr>
            <a:r>
              <a:t>A simple sequence may need neither framework; use what the workflow requires.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00" b="1">
                <a:solidFill>
                  <a:srgbClr val="2A5BD7"/>
                </a:solidFill>
                <a:latin typeface="Inter"/>
              </a:defRPr>
            </a:pPr>
            <a:r>
              <a:t>07 · LANGSMITH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3000" b="1">
                <a:solidFill>
                  <a:srgbClr val="191C21"/>
                </a:solidFill>
                <a:latin typeface="Space Grotesk"/>
              </a:defRPr>
            </a:pPr>
            <a:r>
              <a:t>What is LangSmith?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207008"/>
            <a:ext cx="1097280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300" b="0">
                <a:solidFill>
                  <a:srgbClr val="646C76"/>
                </a:solidFill>
                <a:latin typeface="Inter"/>
              </a:defRPr>
            </a:pPr>
            <a:r>
              <a:rPr sz="1400" dirty="0"/>
              <a:t>Trace, debug, evaluate, and monitor LLM applications.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510528"/>
            <a:ext cx="7315200" cy="1231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00" b="0">
                <a:solidFill>
                  <a:srgbClr val="646C76"/>
                </a:solidFill>
                <a:latin typeface="Inter"/>
              </a:defRPr>
            </a:pPr>
            <a:r>
              <a:rPr dirty="0" err="1"/>
              <a:t>AIYatra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11064240" y="6473952"/>
            <a:ext cx="5029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t>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3429000" cy="2240280"/>
          </a:xfrm>
          <a:prstGeom prst="round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920240"/>
            <a:ext cx="54864" cy="2240280"/>
          </a:xfrm>
          <a:prstGeom prst="rect">
            <a:avLst/>
          </a:prstGeom>
          <a:solidFill>
            <a:srgbClr val="2A5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41247" y="2084832"/>
            <a:ext cx="304495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600" b="1">
                <a:solidFill>
                  <a:srgbClr val="191C21"/>
                </a:solidFill>
                <a:latin typeface="Space Grotesk"/>
              </a:defRPr>
            </a:pPr>
            <a:r>
              <a:t>Trace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2487168"/>
            <a:ext cx="304495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200" b="0">
                <a:solidFill>
                  <a:srgbClr val="646C76"/>
                </a:solidFill>
                <a:latin typeface="Inter"/>
              </a:defRPr>
            </a:pPr>
            <a:r>
              <a:rPr sz="1400" dirty="0"/>
              <a:t>Inspect inputs, outputs, calls, and latency</a:t>
            </a:r>
            <a:r>
              <a:rPr dirty="0"/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920240"/>
            <a:ext cx="3429000" cy="2240280"/>
          </a:xfrm>
          <a:prstGeom prst="round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89120" y="1920240"/>
            <a:ext cx="54864" cy="2240280"/>
          </a:xfrm>
          <a:prstGeom prst="rect">
            <a:avLst/>
          </a:prstGeom>
          <a:solidFill>
            <a:srgbClr val="2382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90288" y="2084832"/>
            <a:ext cx="304495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600" b="1">
                <a:solidFill>
                  <a:srgbClr val="191C21"/>
                </a:solidFill>
                <a:latin typeface="Space Grotesk"/>
              </a:defRPr>
            </a:pPr>
            <a:r>
              <a:t>Debug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2487168"/>
            <a:ext cx="3044952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200" b="0">
                <a:solidFill>
                  <a:srgbClr val="646C76"/>
                </a:solidFill>
                <a:latin typeface="Inter"/>
              </a:defRPr>
            </a:pPr>
            <a:r>
              <a:rPr sz="1400" dirty="0"/>
              <a:t>Investigate errors and unexpected behavior</a:t>
            </a:r>
            <a:r>
              <a:rPr dirty="0"/>
              <a:t>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920240"/>
            <a:ext cx="3429000" cy="2240280"/>
          </a:xfrm>
          <a:prstGeom prst="round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138160" y="1920240"/>
            <a:ext cx="54864" cy="2240280"/>
          </a:xfrm>
          <a:prstGeom prst="rect">
            <a:avLst/>
          </a:prstGeom>
          <a:solidFill>
            <a:srgbClr val="14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304495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600" b="1">
                <a:solidFill>
                  <a:srgbClr val="191C21"/>
                </a:solidFill>
                <a:latin typeface="Space Grotesk"/>
              </a:defRPr>
            </a:pPr>
            <a:r>
              <a:t>Evaluate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9328" y="2487168"/>
            <a:ext cx="3044952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200" b="0">
                <a:solidFill>
                  <a:srgbClr val="646C76"/>
                </a:solidFill>
                <a:latin typeface="Inter"/>
              </a:defRPr>
            </a:pPr>
            <a:r>
              <a:rPr sz="1400" dirty="0"/>
              <a:t>Measure outputs against examples or criteria</a:t>
            </a:r>
            <a:r>
              <a:rPr dirty="0"/>
              <a:t>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709160"/>
            <a:ext cx="1051560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600" b="1">
                <a:solidFill>
                  <a:srgbClr val="2A5BD7"/>
                </a:solidFill>
                <a:latin typeface="Space Grotesk"/>
              </a:defRPr>
            </a:pPr>
            <a:r>
              <a:rPr dirty="0"/>
              <a:t>Understand what happened before deciding how to improve.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00" b="1">
                <a:solidFill>
                  <a:srgbClr val="2A5BD7"/>
                </a:solidFill>
                <a:latin typeface="Inter"/>
              </a:defRPr>
            </a:pPr>
            <a:r>
              <a:t>08 · ECOSYSTEM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3000" b="1">
                <a:solidFill>
                  <a:srgbClr val="191C21"/>
                </a:solidFill>
                <a:latin typeface="Space Grotesk"/>
              </a:defRPr>
            </a:pPr>
            <a:r>
              <a:t>How all three work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207008"/>
            <a:ext cx="1097280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300" b="0">
                <a:solidFill>
                  <a:srgbClr val="646C76"/>
                </a:solidFill>
                <a:latin typeface="Inter"/>
              </a:defRPr>
            </a:pPr>
            <a:r>
              <a:rPr sz="1400" dirty="0"/>
              <a:t>One application, three connected responsibilities.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510528"/>
            <a:ext cx="7315200" cy="1231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00" b="0">
                <a:solidFill>
                  <a:srgbClr val="646C76"/>
                </a:solidFill>
                <a:latin typeface="Inter"/>
              </a:defRPr>
            </a:pPr>
            <a:r>
              <a:rPr dirty="0" err="1"/>
              <a:t>AIYatra</a:t>
            </a:r>
            <a:r>
              <a:rPr dirty="0"/>
              <a:t> 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73952"/>
            <a:ext cx="5029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t>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3429000" cy="2240280"/>
          </a:xfrm>
          <a:prstGeom prst="round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920240"/>
            <a:ext cx="54864" cy="2240280"/>
          </a:xfrm>
          <a:prstGeom prst="rect">
            <a:avLst/>
          </a:prstGeom>
          <a:solidFill>
            <a:srgbClr val="2A5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41247" y="2084832"/>
            <a:ext cx="304495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600" b="1">
                <a:solidFill>
                  <a:srgbClr val="191C21"/>
                </a:solidFill>
                <a:latin typeface="Space Grotesk"/>
              </a:defRPr>
            </a:pPr>
            <a:r>
              <a:t>LangChain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2487168"/>
            <a:ext cx="304495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200" b="0">
                <a:solidFill>
                  <a:srgbClr val="646C76"/>
                </a:solidFill>
                <a:latin typeface="Inter"/>
              </a:defRPr>
            </a:pPr>
            <a:r>
              <a:rPr sz="1400" dirty="0"/>
              <a:t>Build application components.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920240"/>
            <a:ext cx="3429000" cy="2240280"/>
          </a:xfrm>
          <a:prstGeom prst="round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89120" y="1920240"/>
            <a:ext cx="54864" cy="2240280"/>
          </a:xfrm>
          <a:prstGeom prst="rect">
            <a:avLst/>
          </a:prstGeom>
          <a:solidFill>
            <a:srgbClr val="2382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90288" y="2084832"/>
            <a:ext cx="304495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600" b="1">
                <a:solidFill>
                  <a:srgbClr val="191C21"/>
                </a:solidFill>
                <a:latin typeface="Space Grotesk"/>
              </a:defRPr>
            </a:pPr>
            <a:r>
              <a:t>LangGraph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2487168"/>
            <a:ext cx="304495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200" b="0">
                <a:solidFill>
                  <a:srgbClr val="646C76"/>
                </a:solidFill>
                <a:latin typeface="Inter"/>
              </a:defRPr>
            </a:pPr>
            <a:r>
              <a:rPr sz="1400" dirty="0"/>
              <a:t>Orchestrate workflow execution.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920240"/>
            <a:ext cx="3429000" cy="2240280"/>
          </a:xfrm>
          <a:prstGeom prst="round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138160" y="1920240"/>
            <a:ext cx="54864" cy="2240280"/>
          </a:xfrm>
          <a:prstGeom prst="rect">
            <a:avLst/>
          </a:prstGeom>
          <a:solidFill>
            <a:srgbClr val="14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304495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600" b="1">
                <a:solidFill>
                  <a:srgbClr val="191C21"/>
                </a:solidFill>
                <a:latin typeface="Space Grotesk"/>
              </a:defRPr>
            </a:pPr>
            <a:r>
              <a:t>LangSmith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9328" y="2487168"/>
            <a:ext cx="304495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200" b="0">
                <a:solidFill>
                  <a:srgbClr val="646C76"/>
                </a:solidFill>
                <a:latin typeface="Inter"/>
              </a:defRPr>
            </a:pPr>
            <a:r>
              <a:rPr sz="1400" dirty="0"/>
              <a:t>Trace and evaluate application runs.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70916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600" b="1">
                <a:solidFill>
                  <a:srgbClr val="191C21"/>
                </a:solidFill>
                <a:latin typeface="Space Grotesk"/>
              </a:defRPr>
            </a:pPr>
            <a:r>
              <a:t>LangChain connects. LangGraph orchestrates. LangSmith helps us improve.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00" b="1">
                <a:solidFill>
                  <a:srgbClr val="2A5BD7"/>
                </a:solidFill>
                <a:latin typeface="Inter"/>
              </a:defRPr>
            </a:pPr>
            <a:r>
              <a:t>THE 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005840"/>
            <a:ext cx="1078992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3800" b="1">
                <a:solidFill>
                  <a:srgbClr val="191C21"/>
                </a:solidFill>
                <a:latin typeface="Space Grotesk"/>
              </a:defRPr>
            </a:pPr>
            <a:r>
              <a:t>Build. Control.</a:t>
            </a:r>
          </a:p>
          <a:p>
            <a:pPr algn="l">
              <a:defRPr sz="3800" b="1">
                <a:solidFill>
                  <a:srgbClr val="191C21"/>
                </a:solidFill>
                <a:latin typeface="Space Grotesk"/>
              </a:defRPr>
            </a:pPr>
            <a:r>
              <a:t>Understand. Improve.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926080"/>
            <a:ext cx="3429000" cy="1325880"/>
          </a:xfrm>
          <a:prstGeom prst="round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3154680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800" b="1">
                <a:solidFill>
                  <a:srgbClr val="191C21"/>
                </a:solidFill>
                <a:latin typeface="Space Grotesk"/>
              </a:defRPr>
            </a:pPr>
            <a:r>
              <a:t>LangChain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611880"/>
            <a:ext cx="315468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200" b="0">
                <a:solidFill>
                  <a:srgbClr val="646C76"/>
                </a:solidFill>
                <a:latin typeface="Inter"/>
              </a:defRPr>
            </a:pPr>
            <a:r>
              <a:rPr sz="1400" dirty="0"/>
              <a:t>Build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2926080"/>
            <a:ext cx="3429000" cy="1325880"/>
          </a:xfrm>
          <a:prstGeom prst="round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26280" y="3154680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800" b="1">
                <a:solidFill>
                  <a:srgbClr val="191C21"/>
                </a:solidFill>
                <a:latin typeface="Space Grotesk"/>
              </a:defRPr>
            </a:pPr>
            <a:r>
              <a:t>LangGraph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3611880"/>
            <a:ext cx="315468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200" b="0">
                <a:solidFill>
                  <a:srgbClr val="646C76"/>
                </a:solidFill>
                <a:latin typeface="Inter"/>
              </a:defRPr>
            </a:pPr>
            <a:r>
              <a:rPr sz="1400" dirty="0"/>
              <a:t>Orchestrate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59" y="2926080"/>
            <a:ext cx="3429000" cy="1325880"/>
          </a:xfrm>
          <a:prstGeom prst="round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75319" y="3154680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800" b="1">
                <a:solidFill>
                  <a:srgbClr val="191C21"/>
                </a:solidFill>
                <a:latin typeface="Space Grotesk"/>
              </a:defRPr>
            </a:pPr>
            <a:r>
              <a:t>LangSmith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19" y="3611880"/>
            <a:ext cx="315468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200" b="0">
                <a:solidFill>
                  <a:srgbClr val="646C76"/>
                </a:solidFill>
                <a:latin typeface="Inter"/>
              </a:defRPr>
            </a:pPr>
            <a:r>
              <a:rPr sz="1400" dirty="0"/>
              <a:t>Observe + evaluate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52160"/>
            <a:ext cx="10789920" cy="2923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900" b="1">
                <a:solidFill>
                  <a:srgbClr val="191C21"/>
                </a:solidFill>
                <a:latin typeface="Space Grotesk"/>
              </a:defRPr>
            </a:pPr>
            <a:r>
              <a:rPr dirty="0"/>
              <a:t>Thank you  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510528"/>
            <a:ext cx="7315200" cy="1231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00" b="0">
                <a:solidFill>
                  <a:srgbClr val="646C76"/>
                </a:solidFill>
                <a:latin typeface="Inter"/>
              </a:defRPr>
            </a:pPr>
            <a:r>
              <a:rPr dirty="0" err="1"/>
              <a:t>AIYatra</a:t>
            </a:r>
            <a:r>
              <a:rPr dirty="0"/>
              <a:t>  </a:t>
            </a:r>
          </a:p>
        </p:txBody>
      </p:sp>
      <p:sp>
        <p:nvSpPr>
          <p:cNvPr id="16" name="TextBox 12">
            <a:extLst>
              <a:ext uri="{FF2B5EF4-FFF2-40B4-BE49-F238E27FC236}">
                <a16:creationId xmlns:a16="http://schemas.microsoft.com/office/drawing/2014/main" id="{4A14CA7F-B089-5BFF-9CB2-A61396ABAAB8}"/>
              </a:ext>
            </a:extLst>
          </p:cNvPr>
          <p:cNvSpPr txBox="1"/>
          <p:nvPr/>
        </p:nvSpPr>
        <p:spPr>
          <a:xfrm>
            <a:off x="594360" y="5012810"/>
            <a:ext cx="1078992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A5BD7"/>
                </a:solidFill>
                <a:latin typeface="Inter"/>
              </a:defRPr>
            </a:pPr>
            <a:r>
              <a:rPr sz="2000" dirty="0" err="1"/>
              <a:t>LangChain</a:t>
            </a:r>
            <a:r>
              <a:rPr sz="2000" dirty="0"/>
              <a:t> connects. </a:t>
            </a:r>
            <a:r>
              <a:rPr sz="2000" dirty="0" err="1"/>
              <a:t>LangGraph</a:t>
            </a:r>
            <a:r>
              <a:rPr sz="2000" dirty="0"/>
              <a:t> orchestrates. </a:t>
            </a:r>
            <a:r>
              <a:rPr sz="2000" dirty="0" err="1"/>
              <a:t>LangSmith</a:t>
            </a:r>
            <a:r>
              <a:rPr sz="2000" dirty="0"/>
              <a:t> helps us improve.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IYatra">
  <a:themeElements>
    <a:clrScheme name="AIYatra">
      <a:dk1>
        <a:srgbClr val="0D193B"/>
      </a:dk1>
      <a:lt1>
        <a:srgbClr val="FFFFFF"/>
      </a:lt1>
      <a:dk2>
        <a:srgbClr val="1E3A8A"/>
      </a:dk2>
      <a:lt2>
        <a:srgbClr val="F5F9FF"/>
      </a:lt2>
      <a:accent1>
        <a:srgbClr val="2563EB"/>
      </a:accent1>
      <a:accent2>
        <a:srgbClr val="38BDF8"/>
      </a:accent2>
      <a:accent3>
        <a:srgbClr val="1E3A8A"/>
      </a:accent3>
      <a:accent4>
        <a:srgbClr val="93C5FD"/>
      </a:accent4>
      <a:accent5>
        <a:srgbClr val="DBEAFE"/>
      </a:accent5>
      <a:accent6>
        <a:srgbClr val="4A5A80"/>
      </a:accent6>
      <a:hlink>
        <a:srgbClr val="2563EB"/>
      </a:hlink>
      <a:folHlink>
        <a:srgbClr val="1E3A8A"/>
      </a:folHlink>
    </a:clrScheme>
    <a:fontScheme name="AIYatra">
      <a:majorFont>
        <a:latin typeface="Space Grotes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1486</Words>
  <Application>Microsoft Office PowerPoint</Application>
  <PresentationFormat>Widescreen</PresentationFormat>
  <Paragraphs>336</Paragraphs>
  <Slides>22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Inter</vt:lpstr>
      <vt:lpstr>Space Grotesk</vt:lpstr>
      <vt:lpstr>AIYatra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AIYatra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AIYatra — Learn AI. Build with your people.</dc:title>
  <dc:subject>PptxGenJS Presentation</dc:subject>
  <dc:creator>AIYatra</dc:creator>
  <cp:lastModifiedBy>Vishwanath Thepakulo</cp:lastModifiedBy>
  <cp:revision>4</cp:revision>
  <dcterms:created xsi:type="dcterms:W3CDTF">2026-10-22T06:32:36Z</dcterms:created>
  <dcterms:modified xsi:type="dcterms:W3CDTF">2026-10-26T17:24:34Z</dcterms:modified>
</cp:coreProperties>
</file>